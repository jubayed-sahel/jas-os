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6" Type="http://schemas.openxmlformats.org/officeDocument/2006/relationships/image" Target="../media/image2.png"/><Relationship Id="rId5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7.wav"/><Relationship Id="rId1" Type="http://schemas.microsoft.com/office/2007/relationships/media" Target="../media/media7.wav"/><Relationship Id="rId6" Type="http://schemas.openxmlformats.org/officeDocument/2006/relationships/image" Target="../media/image2.png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8.wav"/><Relationship Id="rId1" Type="http://schemas.microsoft.com/office/2007/relationships/media" Target="../media/media8.wav"/><Relationship Id="rId6" Type="http://schemas.openxmlformats.org/officeDocument/2006/relationships/image" Target="../media/image2.png"/><Relationship Id="rId5" Type="http://schemas.openxmlformats.org/officeDocument/2006/relationships/image" Target="../media/image9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9.wav"/><Relationship Id="rId1" Type="http://schemas.microsoft.com/office/2007/relationships/media" Target="../media/media9.wav"/><Relationship Id="rId6" Type="http://schemas.openxmlformats.org/officeDocument/2006/relationships/image" Target="../media/image2.png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0.wav"/><Relationship Id="rId1" Type="http://schemas.microsoft.com/office/2007/relationships/media" Target="../media/media10.wav"/><Relationship Id="rId6" Type="http://schemas.openxmlformats.org/officeDocument/2006/relationships/image" Target="../media/image2.png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1.wav"/><Relationship Id="rId1" Type="http://schemas.microsoft.com/office/2007/relationships/media" Target="../media/media11.wav"/><Relationship Id="rId6" Type="http://schemas.openxmlformats.org/officeDocument/2006/relationships/image" Target="../media/image2.png"/><Relationship Id="rId5" Type="http://schemas.openxmlformats.org/officeDocument/2006/relationships/image" Target="../media/image12.png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2.wav"/><Relationship Id="rId1" Type="http://schemas.microsoft.com/office/2007/relationships/media" Target="../media/media12.wav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pening-kicker">
            <a:extLst>
              <a:ext uri="{FF2B5EF4-FFF2-40B4-BE49-F238E27FC236}">
                <a16:creationId xmlns:a16="http://schemas.microsoft.com/office/drawing/2014/main" id="{12719D1E-B96B-49FC-9C47-559CD1F01EC4}"/>
              </a:ext>
            </a:extLst>
          </p:cNvPr>
          <p:cNvSpPr>
            <a:spLocks noGrp="1"/>
          </p:cNvSpPr>
          <p:nvPr/>
        </p:nvSpPr>
        <p:spPr>
          <a:xfrm>
            <a:off x="495300" y="514350"/>
            <a:ext cx="476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350" b="1">
                <a:solidFill>
                  <a:srgbClr val="0F766E"/>
                </a:solidFill>
              </a:defRPr>
            </a:pPr>
            <a:r>
              <a:rPr sz="1350" b="1">
                <a:solidFill>
                  <a:srgbClr val="0F766E"/>
                </a:solidFill>
              </a:rPr>
              <a:t>CSE 323 · COURSE-CONCEPT OPERATING SYSTEM</a:t>
            </a:r>
          </a:p>
        </p:txBody>
      </p:sp>
      <p:sp>
        <p:nvSpPr>
          <p:cNvPr id="2" name="opening-title">
            <a:extLst>
              <a:ext uri="{FF2B5EF4-FFF2-40B4-BE49-F238E27FC236}">
                <a16:creationId xmlns:a16="http://schemas.microsoft.com/office/drawing/2014/main" id="{CBE6CDA2-A41F-4713-BCB5-94AFC0037565}"/>
              </a:ext>
            </a:extLst>
          </p:cNvPr>
          <p:cNvSpPr>
            <a:spLocks noGrp="1"/>
          </p:cNvSpPr>
          <p:nvPr/>
        </p:nvSpPr>
        <p:spPr>
          <a:xfrm>
            <a:off x="495300" y="1181100"/>
            <a:ext cx="45720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5850" b="1">
                <a:solidFill>
                  <a:srgbClr val="111827"/>
                </a:solidFill>
              </a:defRPr>
            </a:pPr>
            <a:r>
              <a:rPr sz="5850" b="1">
                <a:solidFill>
                  <a:srgbClr val="111827"/>
                </a:solidFill>
              </a:rPr>
              <a:t>JAS OS</a:t>
            </a:r>
          </a:p>
        </p:txBody>
      </p:sp>
      <p:sp>
        <p:nvSpPr>
          <p:cNvPr id="3" name="opening-subtitle">
            <a:extLst>
              <a:ext uri="{FF2B5EF4-FFF2-40B4-BE49-F238E27FC236}">
                <a16:creationId xmlns:a16="http://schemas.microsoft.com/office/drawing/2014/main" id="{E44C5FA5-8E65-4851-8AD5-5212AC8256AA}"/>
              </a:ext>
            </a:extLst>
          </p:cNvPr>
          <p:cNvSpPr>
            <a:spLocks noGrp="1"/>
          </p:cNvSpPr>
          <p:nvPr/>
        </p:nvSpPr>
        <p:spPr>
          <a:xfrm>
            <a:off x="495300" y="2381250"/>
            <a:ext cx="4572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400">
                <a:solidFill>
                  <a:srgbClr val="334155"/>
                </a:solidFill>
              </a:defRPr>
            </a:pPr>
            <a:r>
              <a:rPr sz="2400">
                <a:solidFill>
                  <a:srgbClr val="334155"/>
                </a:solidFill>
              </a:rPr>
              <a:t>My x86 implementation of CSE 323 concepts</a:t>
            </a:r>
          </a:p>
        </p:txBody>
      </p:sp>
      <p:sp>
        <p:nvSpPr>
          <p:cNvPr id="4" name="opening-body">
            <a:extLst>
              <a:ext uri="{FF2B5EF4-FFF2-40B4-BE49-F238E27FC236}">
                <a16:creationId xmlns:a16="http://schemas.microsoft.com/office/drawing/2014/main" id="{68C9753A-33C0-4F09-B31F-BE6F4BF9A582}"/>
              </a:ext>
            </a:extLst>
          </p:cNvPr>
          <p:cNvSpPr>
            <a:spLocks noGrp="1"/>
          </p:cNvSpPr>
          <p:nvPr/>
        </p:nvSpPr>
        <p:spPr>
          <a:xfrm>
            <a:off x="495300" y="3733800"/>
            <a:ext cx="44767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800">
                <a:solidFill>
                  <a:srgbClr val="475569"/>
                </a:solidFill>
              </a:defRPr>
            </a:pPr>
            <a:r>
              <a:rPr sz="1800">
                <a:solidFill>
                  <a:srgbClr val="475569"/>
                </a:solidFill>
              </a:rPr>
              <a:t>Motive: test and prove my own understanding</a:t>
            </a:r>
          </a:p>
          <a:p>
            <a:pPr>
              <a:defRPr sz="1800">
                <a:solidFill>
                  <a:srgbClr val="475569"/>
                </a:solidFill>
              </a:defRPr>
            </a:pPr>
            <a:r>
              <a:rPr sz="1800">
                <a:solidFill>
                  <a:srgbClr val="475569"/>
                </a:solidFill>
              </a:rPr>
              <a:t>Chapters 1–13 · Jubayed Ahmed Sahel</a:t>
            </a:r>
          </a:p>
        </p:txBody>
      </p:sp>
      <p:sp>
        <p:nvSpPr>
          <p:cNvPr id="5" name="opening-accent">
            <a:extLst>
              <a:ext uri="{FF2B5EF4-FFF2-40B4-BE49-F238E27FC236}">
                <a16:creationId xmlns:a16="http://schemas.microsoft.com/office/drawing/2014/main" id="{4194DEDF-AF6B-48AF-9A2B-DA4FAC628EB1}"/>
              </a:ext>
            </a:extLst>
          </p:cNvPr>
          <p:cNvSpPr>
            <a:spLocks noGrp="1"/>
          </p:cNvSpPr>
          <p:nvPr/>
        </p:nvSpPr>
        <p:spPr>
          <a:xfrm>
            <a:off x="495300" y="3352800"/>
            <a:ext cx="1257300" cy="76200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opening-screen-frame">
            <a:extLst>
              <a:ext uri="{FF2B5EF4-FFF2-40B4-BE49-F238E27FC236}">
                <a16:creationId xmlns:a16="http://schemas.microsoft.com/office/drawing/2014/main" id="{142EDFAF-F8D0-4A97-90A0-403EF6481892}"/>
              </a:ext>
            </a:extLst>
          </p:cNvPr>
          <p:cNvSpPr>
            <a:spLocks noGrp="1"/>
          </p:cNvSpPr>
          <p:nvPr/>
        </p:nvSpPr>
        <p:spPr>
          <a:xfrm>
            <a:off x="5581650" y="838200"/>
            <a:ext cx="6076950" cy="4576763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619750" y="876300"/>
            <a:ext cx="6000750" cy="4500563"/>
          </a:xfrm>
          <a:prstGeom prst="rect">
            <a:avLst/>
          </a:prstGeom>
        </p:spPr>
      </p:pic>
      <p:sp>
        <p:nvSpPr>
          <p:cNvPr id="8" name="footer-1">
            <a:extLst>
              <a:ext uri="{FF2B5EF4-FFF2-40B4-BE49-F238E27FC236}">
                <a16:creationId xmlns:a16="http://schemas.microsoft.com/office/drawing/2014/main" id="{343A51B9-B777-4570-898B-95BA62D44789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1/12</a:t>
            </a:r>
          </a:p>
        </p:txBody>
      </p:sp>
      <p:pic>
        <p:nvPicPr>
          <p:cNvPr id="7" name="01">
            <a:hlinkClick r:id="" action="ppaction://media"/>
            <a:extLst>
              <a:ext uri="{FF2B5EF4-FFF2-40B4-BE49-F238E27FC236}">
                <a16:creationId xmlns:a16="http://schemas.microsoft.com/office/drawing/2014/main" id="{99BE78A6-B5C2-44FA-1F69-CA998C90C8B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30702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1581"/>
    </mc:Choice>
    <mc:Fallback>
      <p:transition spd="slow" advClick="0" advTm="2158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78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creen-2-frame">
            <a:extLst>
              <a:ext uri="{FF2B5EF4-FFF2-40B4-BE49-F238E27FC236}">
                <a16:creationId xmlns:a16="http://schemas.microsoft.com/office/drawing/2014/main" id="{305E0DFF-35F6-4D49-B200-BF20CFA49979}"/>
              </a:ext>
            </a:extLst>
          </p:cNvPr>
          <p:cNvSpPr>
            <a:spLocks noGrp="1"/>
          </p:cNvSpPr>
          <p:nvPr/>
        </p:nvSpPr>
        <p:spPr>
          <a:xfrm>
            <a:off x="323850" y="361950"/>
            <a:ext cx="8172450" cy="6148388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61950" y="400050"/>
            <a:ext cx="8096250" cy="6072188"/>
          </a:xfrm>
          <a:prstGeom prst="rect">
            <a:avLst/>
          </a:prstGeom>
        </p:spPr>
      </p:pic>
      <p:sp>
        <p:nvSpPr>
          <p:cNvPr id="3" name="kicker-2">
            <a:extLst>
              <a:ext uri="{FF2B5EF4-FFF2-40B4-BE49-F238E27FC236}">
                <a16:creationId xmlns:a16="http://schemas.microsoft.com/office/drawing/2014/main" id="{83C0FCB6-ABC5-4047-8913-1E9451434625}"/>
              </a:ext>
            </a:extLst>
          </p:cNvPr>
          <p:cNvSpPr>
            <a:spLocks noGrp="1"/>
          </p:cNvSpPr>
          <p:nvPr/>
        </p:nvSpPr>
        <p:spPr>
          <a:xfrm>
            <a:off x="885825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LIVE KERNEL PROOF · 01</a:t>
            </a:r>
          </a:p>
        </p:txBody>
      </p:sp>
      <p:sp>
        <p:nvSpPr>
          <p:cNvPr id="4" name="title-2">
            <a:extLst>
              <a:ext uri="{FF2B5EF4-FFF2-40B4-BE49-F238E27FC236}">
                <a16:creationId xmlns:a16="http://schemas.microsoft.com/office/drawing/2014/main" id="{EE2BF1A0-4C73-49C7-8A3E-6BBCA20A65A1}"/>
              </a:ext>
            </a:extLst>
          </p:cNvPr>
          <p:cNvSpPr>
            <a:spLocks noGrp="1"/>
          </p:cNvSpPr>
          <p:nvPr/>
        </p:nvSpPr>
        <p:spPr>
          <a:xfrm>
            <a:off x="8858250" y="120015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A guide to evidence of my understanding</a:t>
            </a:r>
          </a:p>
        </p:txBody>
      </p:sp>
      <p:sp>
        <p:nvSpPr>
          <p:cNvPr id="5" name="accent-2">
            <a:extLst>
              <a:ext uri="{FF2B5EF4-FFF2-40B4-BE49-F238E27FC236}">
                <a16:creationId xmlns:a16="http://schemas.microsoft.com/office/drawing/2014/main" id="{C05690C9-5512-4E89-81F7-23A094470F9B}"/>
              </a:ext>
            </a:extLst>
          </p:cNvPr>
          <p:cNvSpPr>
            <a:spLocks noGrp="1"/>
          </p:cNvSpPr>
          <p:nvPr/>
        </p:nvSpPr>
        <p:spPr>
          <a:xfrm>
            <a:off x="8858250" y="3219450"/>
            <a:ext cx="914400" cy="666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body-2">
            <a:extLst>
              <a:ext uri="{FF2B5EF4-FFF2-40B4-BE49-F238E27FC236}">
                <a16:creationId xmlns:a16="http://schemas.microsoft.com/office/drawing/2014/main" id="{719A1DCD-59C6-46B8-B3BE-62F41800D436}"/>
              </a:ext>
            </a:extLst>
          </p:cNvPr>
          <p:cNvSpPr>
            <a:spLocks noGrp="1"/>
          </p:cNvSpPr>
          <p:nvPr/>
        </p:nvSpPr>
        <p:spPr>
          <a:xfrm>
            <a:off x="8858250" y="3619500"/>
            <a:ext cx="2857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Each lecture concept maps to my implementation and live state.</a:t>
            </a:r>
          </a:p>
          <a:p>
            <a:endParaRPr sz="1725">
              <a:solidFill>
                <a:srgbClr val="334155"/>
              </a:solidFill>
            </a:endParaRP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Guide, Lectures, STOP, and clear controls stay visible.</a:t>
            </a:r>
          </a:p>
        </p:txBody>
      </p:sp>
      <p:sp>
        <p:nvSpPr>
          <p:cNvPr id="7" name="footer-2">
            <a:extLst>
              <a:ext uri="{FF2B5EF4-FFF2-40B4-BE49-F238E27FC236}">
                <a16:creationId xmlns:a16="http://schemas.microsoft.com/office/drawing/2014/main" id="{ED79A5FA-4B8B-40B1-9DD1-59E2F57D0CAF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2/12</a:t>
            </a:r>
          </a:p>
        </p:txBody>
      </p:sp>
      <p:pic>
        <p:nvPicPr>
          <p:cNvPr id="2" name="02">
            <a:hlinkClick r:id="" action="ppaction://media"/>
            <a:extLst>
              <a:ext uri="{FF2B5EF4-FFF2-40B4-BE49-F238E27FC236}">
                <a16:creationId xmlns:a16="http://schemas.microsoft.com/office/drawing/2014/main" id="{257D7F44-14DB-48C6-CBAB-2EA8C2F403F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42549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6070"/>
    </mc:Choice>
    <mc:Fallback>
      <p:transition spd="slow" advClick="0" advTm="2607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527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creen-3-frame">
            <a:extLst>
              <a:ext uri="{FF2B5EF4-FFF2-40B4-BE49-F238E27FC236}">
                <a16:creationId xmlns:a16="http://schemas.microsoft.com/office/drawing/2014/main" id="{748704E3-C187-4377-BEA3-505492761C6D}"/>
              </a:ext>
            </a:extLst>
          </p:cNvPr>
          <p:cNvSpPr>
            <a:spLocks noGrp="1"/>
          </p:cNvSpPr>
          <p:nvPr/>
        </p:nvSpPr>
        <p:spPr>
          <a:xfrm>
            <a:off x="3695700" y="361950"/>
            <a:ext cx="8172450" cy="6148388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733800" y="400050"/>
            <a:ext cx="8096250" cy="6072188"/>
          </a:xfrm>
          <a:prstGeom prst="rect">
            <a:avLst/>
          </a:prstGeom>
        </p:spPr>
      </p:pic>
      <p:sp>
        <p:nvSpPr>
          <p:cNvPr id="3" name="kicker-3">
            <a:extLst>
              <a:ext uri="{FF2B5EF4-FFF2-40B4-BE49-F238E27FC236}">
                <a16:creationId xmlns:a16="http://schemas.microsoft.com/office/drawing/2014/main" id="{AE0D92FC-921F-4108-94C1-B407DE774280}"/>
              </a:ext>
            </a:extLst>
          </p:cNvPr>
          <p:cNvSpPr>
            <a:spLocks noGrp="1"/>
          </p:cNvSpPr>
          <p:nvPr/>
        </p:nvSpPr>
        <p:spPr>
          <a:xfrm>
            <a:off x="36195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LIVE KERNEL PROOF · 02</a:t>
            </a:r>
          </a:p>
        </p:txBody>
      </p:sp>
      <p:sp>
        <p:nvSpPr>
          <p:cNvPr id="4" name="title-3">
            <a:extLst>
              <a:ext uri="{FF2B5EF4-FFF2-40B4-BE49-F238E27FC236}">
                <a16:creationId xmlns:a16="http://schemas.microsoft.com/office/drawing/2014/main" id="{48629DC4-17F2-4A41-8A64-087920BDFE2E}"/>
              </a:ext>
            </a:extLst>
          </p:cNvPr>
          <p:cNvSpPr>
            <a:spLocks noGrp="1"/>
          </p:cNvSpPr>
          <p:nvPr/>
        </p:nvSpPr>
        <p:spPr>
          <a:xfrm>
            <a:off x="361950" y="120015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The kernel exposes live system state</a:t>
            </a:r>
          </a:p>
        </p:txBody>
      </p:sp>
      <p:sp>
        <p:nvSpPr>
          <p:cNvPr id="5" name="accent-3">
            <a:extLst>
              <a:ext uri="{FF2B5EF4-FFF2-40B4-BE49-F238E27FC236}">
                <a16:creationId xmlns:a16="http://schemas.microsoft.com/office/drawing/2014/main" id="{079E7DDE-9DC6-4AC7-9ABE-7487FCCBCABE}"/>
              </a:ext>
            </a:extLst>
          </p:cNvPr>
          <p:cNvSpPr>
            <a:spLocks noGrp="1"/>
          </p:cNvSpPr>
          <p:nvPr/>
        </p:nvSpPr>
        <p:spPr>
          <a:xfrm>
            <a:off x="361950" y="3219450"/>
            <a:ext cx="914400" cy="666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body-3">
            <a:extLst>
              <a:ext uri="{FF2B5EF4-FFF2-40B4-BE49-F238E27FC236}">
                <a16:creationId xmlns:a16="http://schemas.microsoft.com/office/drawing/2014/main" id="{23ABB81F-246B-43AB-A977-82E86E0BAC25}"/>
              </a:ext>
            </a:extLst>
          </p:cNvPr>
          <p:cNvSpPr>
            <a:spLocks noGrp="1"/>
          </p:cNvSpPr>
          <p:nvPr/>
        </p:nvSpPr>
        <p:spPr>
          <a:xfrm>
            <a:off x="361950" y="3619500"/>
            <a:ext cx="2857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Boot path and services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Scheduler and tasks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Heap, paging, MiniFS, storage, and I/O</a:t>
            </a:r>
          </a:p>
        </p:txBody>
      </p:sp>
      <p:sp>
        <p:nvSpPr>
          <p:cNvPr id="7" name="footer-3">
            <a:extLst>
              <a:ext uri="{FF2B5EF4-FFF2-40B4-BE49-F238E27FC236}">
                <a16:creationId xmlns:a16="http://schemas.microsoft.com/office/drawing/2014/main" id="{488F1893-58BE-470E-B646-B52B73687A5F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3/12</a:t>
            </a:r>
          </a:p>
        </p:txBody>
      </p:sp>
      <p:pic>
        <p:nvPicPr>
          <p:cNvPr id="2" name="03">
            <a:hlinkClick r:id="" action="ppaction://media"/>
            <a:extLst>
              <a:ext uri="{FF2B5EF4-FFF2-40B4-BE49-F238E27FC236}">
                <a16:creationId xmlns:a16="http://schemas.microsoft.com/office/drawing/2014/main" id="{CF64915B-CDAF-4150-F8CF-DFA8AE394F3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36755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3711"/>
    </mc:Choice>
    <mc:Fallback>
      <p:transition spd="slow" advClick="0" advTm="2371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91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creen-4-frame">
            <a:extLst>
              <a:ext uri="{FF2B5EF4-FFF2-40B4-BE49-F238E27FC236}">
                <a16:creationId xmlns:a16="http://schemas.microsoft.com/office/drawing/2014/main" id="{9270713F-E090-4452-BBB8-E48741628432}"/>
              </a:ext>
            </a:extLst>
          </p:cNvPr>
          <p:cNvSpPr>
            <a:spLocks noGrp="1"/>
          </p:cNvSpPr>
          <p:nvPr/>
        </p:nvSpPr>
        <p:spPr>
          <a:xfrm>
            <a:off x="323850" y="361950"/>
            <a:ext cx="8172450" cy="6148388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61950" y="400050"/>
            <a:ext cx="8096250" cy="6072188"/>
          </a:xfrm>
          <a:prstGeom prst="rect">
            <a:avLst/>
          </a:prstGeom>
        </p:spPr>
      </p:pic>
      <p:sp>
        <p:nvSpPr>
          <p:cNvPr id="3" name="kicker-4">
            <a:extLst>
              <a:ext uri="{FF2B5EF4-FFF2-40B4-BE49-F238E27FC236}">
                <a16:creationId xmlns:a16="http://schemas.microsoft.com/office/drawing/2014/main" id="{73A4EF05-67A6-4C09-A79D-FF302F0B6AAC}"/>
              </a:ext>
            </a:extLst>
          </p:cNvPr>
          <p:cNvSpPr>
            <a:spLocks noGrp="1"/>
          </p:cNvSpPr>
          <p:nvPr/>
        </p:nvSpPr>
        <p:spPr>
          <a:xfrm>
            <a:off x="885825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LIVE KERNEL PROOF · 03</a:t>
            </a:r>
          </a:p>
        </p:txBody>
      </p:sp>
      <p:sp>
        <p:nvSpPr>
          <p:cNvPr id="4" name="title-4">
            <a:extLst>
              <a:ext uri="{FF2B5EF4-FFF2-40B4-BE49-F238E27FC236}">
                <a16:creationId xmlns:a16="http://schemas.microsoft.com/office/drawing/2014/main" id="{64228ECA-DEC7-4ADD-B9DE-235E87A23114}"/>
              </a:ext>
            </a:extLst>
          </p:cNvPr>
          <p:cNvSpPr>
            <a:spLocks noGrp="1"/>
          </p:cNvSpPr>
          <p:nvPr/>
        </p:nvSpPr>
        <p:spPr>
          <a:xfrm>
            <a:off x="8858250" y="120015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Processes communicate through a kernel mailbox</a:t>
            </a:r>
          </a:p>
        </p:txBody>
      </p:sp>
      <p:sp>
        <p:nvSpPr>
          <p:cNvPr id="5" name="accent-4">
            <a:extLst>
              <a:ext uri="{FF2B5EF4-FFF2-40B4-BE49-F238E27FC236}">
                <a16:creationId xmlns:a16="http://schemas.microsoft.com/office/drawing/2014/main" id="{1D7D3A94-9F1F-424F-B421-A6CD05B13425}"/>
              </a:ext>
            </a:extLst>
          </p:cNvPr>
          <p:cNvSpPr>
            <a:spLocks noGrp="1"/>
          </p:cNvSpPr>
          <p:nvPr/>
        </p:nvSpPr>
        <p:spPr>
          <a:xfrm>
            <a:off x="8858250" y="3219450"/>
            <a:ext cx="914400" cy="666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body-4">
            <a:extLst>
              <a:ext uri="{FF2B5EF4-FFF2-40B4-BE49-F238E27FC236}">
                <a16:creationId xmlns:a16="http://schemas.microsoft.com/office/drawing/2014/main" id="{9A12A2A1-9619-478B-B442-1941F47E4AEB}"/>
              </a:ext>
            </a:extLst>
          </p:cNvPr>
          <p:cNvSpPr>
            <a:spLocks noGrp="1"/>
          </p:cNvSpPr>
          <p:nvPr/>
        </p:nvSpPr>
        <p:spPr>
          <a:xfrm>
            <a:off x="8858250" y="3619500"/>
            <a:ext cx="2857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Task control blocks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Lifecycle states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Explicit send and receive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Observable task table</a:t>
            </a:r>
          </a:p>
        </p:txBody>
      </p:sp>
      <p:sp>
        <p:nvSpPr>
          <p:cNvPr id="7" name="footer-4">
            <a:extLst>
              <a:ext uri="{FF2B5EF4-FFF2-40B4-BE49-F238E27FC236}">
                <a16:creationId xmlns:a16="http://schemas.microsoft.com/office/drawing/2014/main" id="{F3B5DCC7-DCC9-4B33-BE38-5E308303BD33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4/12</a:t>
            </a:r>
          </a:p>
        </p:txBody>
      </p:sp>
      <p:pic>
        <p:nvPicPr>
          <p:cNvPr id="2" name="04">
            <a:hlinkClick r:id="" action="ppaction://media"/>
            <a:extLst>
              <a:ext uri="{FF2B5EF4-FFF2-40B4-BE49-F238E27FC236}">
                <a16:creationId xmlns:a16="http://schemas.microsoft.com/office/drawing/2014/main" id="{49B900B6-D0CD-0C8A-4C00-63391D509DF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4572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0856"/>
    </mc:Choice>
    <mc:Fallback>
      <p:transition spd="slow" advClick="0" advTm="2085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5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creen-5-frame">
            <a:extLst>
              <a:ext uri="{FF2B5EF4-FFF2-40B4-BE49-F238E27FC236}">
                <a16:creationId xmlns:a16="http://schemas.microsoft.com/office/drawing/2014/main" id="{EA5FF246-25B4-44E8-8F82-10A036DF26DC}"/>
              </a:ext>
            </a:extLst>
          </p:cNvPr>
          <p:cNvSpPr>
            <a:spLocks noGrp="1"/>
          </p:cNvSpPr>
          <p:nvPr/>
        </p:nvSpPr>
        <p:spPr>
          <a:xfrm>
            <a:off x="3695700" y="361950"/>
            <a:ext cx="8172450" cy="6148388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733800" y="400050"/>
            <a:ext cx="8096250" cy="6072188"/>
          </a:xfrm>
          <a:prstGeom prst="rect">
            <a:avLst/>
          </a:prstGeom>
        </p:spPr>
      </p:pic>
      <p:sp>
        <p:nvSpPr>
          <p:cNvPr id="3" name="kicker-5">
            <a:extLst>
              <a:ext uri="{FF2B5EF4-FFF2-40B4-BE49-F238E27FC236}">
                <a16:creationId xmlns:a16="http://schemas.microsoft.com/office/drawing/2014/main" id="{8385C341-CE7D-4B28-9EBC-E9B6F154306C}"/>
              </a:ext>
            </a:extLst>
          </p:cNvPr>
          <p:cNvSpPr>
            <a:spLocks noGrp="1"/>
          </p:cNvSpPr>
          <p:nvPr/>
        </p:nvSpPr>
        <p:spPr>
          <a:xfrm>
            <a:off x="36195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LIVE KERNEL PROOF · 04</a:t>
            </a:r>
          </a:p>
        </p:txBody>
      </p:sp>
      <p:sp>
        <p:nvSpPr>
          <p:cNvPr id="4" name="title-5">
            <a:extLst>
              <a:ext uri="{FF2B5EF4-FFF2-40B4-BE49-F238E27FC236}">
                <a16:creationId xmlns:a16="http://schemas.microsoft.com/office/drawing/2014/main" id="{A98E8B3D-1D6C-4136-B0D6-A67704340B51}"/>
              </a:ext>
            </a:extLst>
          </p:cNvPr>
          <p:cNvSpPr>
            <a:spLocks noGrp="1"/>
          </p:cNvSpPr>
          <p:nvPr/>
        </p:nvSpPr>
        <p:spPr>
          <a:xfrm>
            <a:off x="361950" y="120015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Four CPU schedulers can be compared live</a:t>
            </a:r>
          </a:p>
        </p:txBody>
      </p:sp>
      <p:sp>
        <p:nvSpPr>
          <p:cNvPr id="5" name="accent-5">
            <a:extLst>
              <a:ext uri="{FF2B5EF4-FFF2-40B4-BE49-F238E27FC236}">
                <a16:creationId xmlns:a16="http://schemas.microsoft.com/office/drawing/2014/main" id="{E5ABB50C-4570-445C-AAE1-3FBBFA108594}"/>
              </a:ext>
            </a:extLst>
          </p:cNvPr>
          <p:cNvSpPr>
            <a:spLocks noGrp="1"/>
          </p:cNvSpPr>
          <p:nvPr/>
        </p:nvSpPr>
        <p:spPr>
          <a:xfrm>
            <a:off x="361950" y="3219450"/>
            <a:ext cx="914400" cy="666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body-5">
            <a:extLst>
              <a:ext uri="{FF2B5EF4-FFF2-40B4-BE49-F238E27FC236}">
                <a16:creationId xmlns:a16="http://schemas.microsoft.com/office/drawing/2014/main" id="{05967748-561A-4FA5-B89E-3B2990F76E67}"/>
              </a:ext>
            </a:extLst>
          </p:cNvPr>
          <p:cNvSpPr>
            <a:spLocks noGrp="1"/>
          </p:cNvSpPr>
          <p:nvPr/>
        </p:nvSpPr>
        <p:spPr>
          <a:xfrm>
            <a:off x="361950" y="3619500"/>
            <a:ext cx="2857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Round Robin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Priority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First Come First Served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Shortest Job First</a:t>
            </a:r>
          </a:p>
        </p:txBody>
      </p:sp>
      <p:sp>
        <p:nvSpPr>
          <p:cNvPr id="7" name="footer-5">
            <a:extLst>
              <a:ext uri="{FF2B5EF4-FFF2-40B4-BE49-F238E27FC236}">
                <a16:creationId xmlns:a16="http://schemas.microsoft.com/office/drawing/2014/main" id="{0D13A8CA-8606-46EB-ABD1-BA1E2813D502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5/12</a:t>
            </a:r>
          </a:p>
        </p:txBody>
      </p:sp>
      <p:pic>
        <p:nvPicPr>
          <p:cNvPr id="2" name="05">
            <a:hlinkClick r:id="" action="ppaction://media"/>
            <a:extLst>
              <a:ext uri="{FF2B5EF4-FFF2-40B4-BE49-F238E27FC236}">
                <a16:creationId xmlns:a16="http://schemas.microsoft.com/office/drawing/2014/main" id="{46340BC0-9D19-7B1E-5C57-E8EA4512428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6323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2056"/>
    </mc:Choice>
    <mc:Fallback>
      <p:transition spd="slow" advClick="0" advTm="2205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25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creen-6-frame">
            <a:extLst>
              <a:ext uri="{FF2B5EF4-FFF2-40B4-BE49-F238E27FC236}">
                <a16:creationId xmlns:a16="http://schemas.microsoft.com/office/drawing/2014/main" id="{2CD1A0C0-98F5-4A87-8847-94A9FF44C39A}"/>
              </a:ext>
            </a:extLst>
          </p:cNvPr>
          <p:cNvSpPr>
            <a:spLocks noGrp="1"/>
          </p:cNvSpPr>
          <p:nvPr/>
        </p:nvSpPr>
        <p:spPr>
          <a:xfrm>
            <a:off x="323850" y="361950"/>
            <a:ext cx="8172450" cy="6148388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61950" y="400050"/>
            <a:ext cx="8096250" cy="6072188"/>
          </a:xfrm>
          <a:prstGeom prst="rect">
            <a:avLst/>
          </a:prstGeom>
        </p:spPr>
      </p:pic>
      <p:sp>
        <p:nvSpPr>
          <p:cNvPr id="3" name="kicker-6">
            <a:extLst>
              <a:ext uri="{FF2B5EF4-FFF2-40B4-BE49-F238E27FC236}">
                <a16:creationId xmlns:a16="http://schemas.microsoft.com/office/drawing/2014/main" id="{FCB42C8D-2829-498F-A79A-59FAEBE8B201}"/>
              </a:ext>
            </a:extLst>
          </p:cNvPr>
          <p:cNvSpPr>
            <a:spLocks noGrp="1"/>
          </p:cNvSpPr>
          <p:nvPr/>
        </p:nvSpPr>
        <p:spPr>
          <a:xfrm>
            <a:off x="885825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LIVE KERNEL PROOF · 05</a:t>
            </a:r>
          </a:p>
        </p:txBody>
      </p:sp>
      <p:sp>
        <p:nvSpPr>
          <p:cNvPr id="4" name="title-6">
            <a:extLst>
              <a:ext uri="{FF2B5EF4-FFF2-40B4-BE49-F238E27FC236}">
                <a16:creationId xmlns:a16="http://schemas.microsoft.com/office/drawing/2014/main" id="{98A8D173-F345-4BF7-B99A-D2406F6E5BEA}"/>
              </a:ext>
            </a:extLst>
          </p:cNvPr>
          <p:cNvSpPr>
            <a:spLocks noGrp="1"/>
          </p:cNvSpPr>
          <p:nvPr/>
        </p:nvSpPr>
        <p:spPr>
          <a:xfrm>
            <a:off x="8858250" y="120015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Semaphores protect shared state</a:t>
            </a:r>
          </a:p>
        </p:txBody>
      </p:sp>
      <p:sp>
        <p:nvSpPr>
          <p:cNvPr id="5" name="accent-6">
            <a:extLst>
              <a:ext uri="{FF2B5EF4-FFF2-40B4-BE49-F238E27FC236}">
                <a16:creationId xmlns:a16="http://schemas.microsoft.com/office/drawing/2014/main" id="{3C49296F-0B1C-44A5-9AEE-45C493621A60}"/>
              </a:ext>
            </a:extLst>
          </p:cNvPr>
          <p:cNvSpPr>
            <a:spLocks noGrp="1"/>
          </p:cNvSpPr>
          <p:nvPr/>
        </p:nvSpPr>
        <p:spPr>
          <a:xfrm>
            <a:off x="8858250" y="3219450"/>
            <a:ext cx="914400" cy="666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body-6">
            <a:extLst>
              <a:ext uri="{FF2B5EF4-FFF2-40B4-BE49-F238E27FC236}">
                <a16:creationId xmlns:a16="http://schemas.microsoft.com/office/drawing/2014/main" id="{94812A2B-987B-4094-B0B7-4F549117B83A}"/>
              </a:ext>
            </a:extLst>
          </p:cNvPr>
          <p:cNvSpPr>
            <a:spLocks noGrp="1"/>
          </p:cNvSpPr>
          <p:nvPr/>
        </p:nvSpPr>
        <p:spPr>
          <a:xfrm>
            <a:off x="8858250" y="3619500"/>
            <a:ext cx="2857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Concurrent readers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Exclusive writer access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Visible waiting and progress counters</a:t>
            </a:r>
          </a:p>
        </p:txBody>
      </p:sp>
      <p:sp>
        <p:nvSpPr>
          <p:cNvPr id="7" name="footer-6">
            <a:extLst>
              <a:ext uri="{FF2B5EF4-FFF2-40B4-BE49-F238E27FC236}">
                <a16:creationId xmlns:a16="http://schemas.microsoft.com/office/drawing/2014/main" id="{0F5FDE4E-B8CE-4A8E-A760-159C31E44335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6/12</a:t>
            </a:r>
          </a:p>
        </p:txBody>
      </p:sp>
      <p:pic>
        <p:nvPicPr>
          <p:cNvPr id="2" name="06">
            <a:hlinkClick r:id="" action="ppaction://media"/>
            <a:extLst>
              <a:ext uri="{FF2B5EF4-FFF2-40B4-BE49-F238E27FC236}">
                <a16:creationId xmlns:a16="http://schemas.microsoft.com/office/drawing/2014/main" id="{7EA734FD-C9AB-F13B-360A-A8169331615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4748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9581"/>
    </mc:Choice>
    <mc:Fallback>
      <p:transition spd="slow" advClick="0" advTm="1958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78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creen-7-frame">
            <a:extLst>
              <a:ext uri="{FF2B5EF4-FFF2-40B4-BE49-F238E27FC236}">
                <a16:creationId xmlns:a16="http://schemas.microsoft.com/office/drawing/2014/main" id="{A32D4851-52BB-4E1A-95F0-AFCCFB7EC0D9}"/>
              </a:ext>
            </a:extLst>
          </p:cNvPr>
          <p:cNvSpPr>
            <a:spLocks noGrp="1"/>
          </p:cNvSpPr>
          <p:nvPr/>
        </p:nvSpPr>
        <p:spPr>
          <a:xfrm>
            <a:off x="3695700" y="361950"/>
            <a:ext cx="8172450" cy="6148388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733800" y="400050"/>
            <a:ext cx="8096250" cy="6072188"/>
          </a:xfrm>
          <a:prstGeom prst="rect">
            <a:avLst/>
          </a:prstGeom>
        </p:spPr>
      </p:pic>
      <p:sp>
        <p:nvSpPr>
          <p:cNvPr id="3" name="kicker-7">
            <a:extLst>
              <a:ext uri="{FF2B5EF4-FFF2-40B4-BE49-F238E27FC236}">
                <a16:creationId xmlns:a16="http://schemas.microsoft.com/office/drawing/2014/main" id="{0FFB637C-9E97-4126-9EF8-B2384D8BF0D5}"/>
              </a:ext>
            </a:extLst>
          </p:cNvPr>
          <p:cNvSpPr>
            <a:spLocks noGrp="1"/>
          </p:cNvSpPr>
          <p:nvPr/>
        </p:nvSpPr>
        <p:spPr>
          <a:xfrm>
            <a:off x="36195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LIVE KERNEL PROOF · 06</a:t>
            </a:r>
          </a:p>
        </p:txBody>
      </p:sp>
      <p:sp>
        <p:nvSpPr>
          <p:cNvPr id="4" name="title-7">
            <a:extLst>
              <a:ext uri="{FF2B5EF4-FFF2-40B4-BE49-F238E27FC236}">
                <a16:creationId xmlns:a16="http://schemas.microsoft.com/office/drawing/2014/main" id="{925013BB-DA19-4FEE-B3CC-B37C8EEF4745}"/>
              </a:ext>
            </a:extLst>
          </p:cNvPr>
          <p:cNvSpPr>
            <a:spLocks noGrp="1"/>
          </p:cNvSpPr>
          <p:nvPr/>
        </p:nvSpPr>
        <p:spPr>
          <a:xfrm>
            <a:off x="361950" y="120015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One stop command ends all terminal activity</a:t>
            </a:r>
          </a:p>
        </p:txBody>
      </p:sp>
      <p:sp>
        <p:nvSpPr>
          <p:cNvPr id="5" name="accent-7">
            <a:extLst>
              <a:ext uri="{FF2B5EF4-FFF2-40B4-BE49-F238E27FC236}">
                <a16:creationId xmlns:a16="http://schemas.microsoft.com/office/drawing/2014/main" id="{3B29A4F2-B0EA-48F5-A0F5-23BF030AEDF0}"/>
              </a:ext>
            </a:extLst>
          </p:cNvPr>
          <p:cNvSpPr>
            <a:spLocks noGrp="1"/>
          </p:cNvSpPr>
          <p:nvPr/>
        </p:nvSpPr>
        <p:spPr>
          <a:xfrm>
            <a:off x="361950" y="3219450"/>
            <a:ext cx="914400" cy="666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body-7">
            <a:extLst>
              <a:ext uri="{FF2B5EF4-FFF2-40B4-BE49-F238E27FC236}">
                <a16:creationId xmlns:a16="http://schemas.microsoft.com/office/drawing/2014/main" id="{79B583EF-0907-41D4-B851-2CD3E90FDBDF}"/>
              </a:ext>
            </a:extLst>
          </p:cNvPr>
          <p:cNvSpPr>
            <a:spLocks noGrp="1"/>
          </p:cNvSpPr>
          <p:nvPr/>
        </p:nvSpPr>
        <p:spPr>
          <a:xfrm>
            <a:off x="361950" y="3619500"/>
            <a:ext cx="2857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Kills non-shell jobs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Stops background output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Keeps the terminal responsive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Also available as a red STOP button</a:t>
            </a:r>
          </a:p>
        </p:txBody>
      </p:sp>
      <p:sp>
        <p:nvSpPr>
          <p:cNvPr id="7" name="footer-7">
            <a:extLst>
              <a:ext uri="{FF2B5EF4-FFF2-40B4-BE49-F238E27FC236}">
                <a16:creationId xmlns:a16="http://schemas.microsoft.com/office/drawing/2014/main" id="{085310CC-167C-48E6-A33B-31FAE223F781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7/12</a:t>
            </a:r>
          </a:p>
        </p:txBody>
      </p:sp>
      <p:pic>
        <p:nvPicPr>
          <p:cNvPr id="2" name="07">
            <a:hlinkClick r:id="" action="ppaction://media"/>
            <a:extLst>
              <a:ext uri="{FF2B5EF4-FFF2-40B4-BE49-F238E27FC236}">
                <a16:creationId xmlns:a16="http://schemas.microsoft.com/office/drawing/2014/main" id="{298F3C4B-C1D3-3AEF-3D13-C27FD7BA2BD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1664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9636"/>
    </mc:Choice>
    <mc:Fallback>
      <p:transition spd="slow" advClick="0" advTm="1963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3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creen-8-frame">
            <a:extLst>
              <a:ext uri="{FF2B5EF4-FFF2-40B4-BE49-F238E27FC236}">
                <a16:creationId xmlns:a16="http://schemas.microsoft.com/office/drawing/2014/main" id="{CD409D62-834C-41DD-BF5A-ECF75BD34F5D}"/>
              </a:ext>
            </a:extLst>
          </p:cNvPr>
          <p:cNvSpPr>
            <a:spLocks noGrp="1"/>
          </p:cNvSpPr>
          <p:nvPr/>
        </p:nvSpPr>
        <p:spPr>
          <a:xfrm>
            <a:off x="323850" y="361950"/>
            <a:ext cx="8172450" cy="6148388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61950" y="400050"/>
            <a:ext cx="8096250" cy="6072188"/>
          </a:xfrm>
          <a:prstGeom prst="rect">
            <a:avLst/>
          </a:prstGeom>
        </p:spPr>
      </p:pic>
      <p:sp>
        <p:nvSpPr>
          <p:cNvPr id="3" name="kicker-8">
            <a:extLst>
              <a:ext uri="{FF2B5EF4-FFF2-40B4-BE49-F238E27FC236}">
                <a16:creationId xmlns:a16="http://schemas.microsoft.com/office/drawing/2014/main" id="{247F92CE-B21B-4C8F-A993-7DF0C20C2F23}"/>
              </a:ext>
            </a:extLst>
          </p:cNvPr>
          <p:cNvSpPr>
            <a:spLocks noGrp="1"/>
          </p:cNvSpPr>
          <p:nvPr/>
        </p:nvSpPr>
        <p:spPr>
          <a:xfrm>
            <a:off x="885825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LIVE KERNEL PROOF · 07</a:t>
            </a:r>
          </a:p>
        </p:txBody>
      </p:sp>
      <p:sp>
        <p:nvSpPr>
          <p:cNvPr id="4" name="title-8">
            <a:extLst>
              <a:ext uri="{FF2B5EF4-FFF2-40B4-BE49-F238E27FC236}">
                <a16:creationId xmlns:a16="http://schemas.microsoft.com/office/drawing/2014/main" id="{D9A7E8CC-7BCE-43B8-AFCC-5B164CC08903}"/>
              </a:ext>
            </a:extLst>
          </p:cNvPr>
          <p:cNvSpPr>
            <a:spLocks noGrp="1"/>
          </p:cNvSpPr>
          <p:nvPr/>
        </p:nvSpPr>
        <p:spPr>
          <a:xfrm>
            <a:off x="8858250" y="120015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Banker’s algorithm prevents unsafe allocation</a:t>
            </a:r>
          </a:p>
        </p:txBody>
      </p:sp>
      <p:sp>
        <p:nvSpPr>
          <p:cNvPr id="5" name="accent-8">
            <a:extLst>
              <a:ext uri="{FF2B5EF4-FFF2-40B4-BE49-F238E27FC236}">
                <a16:creationId xmlns:a16="http://schemas.microsoft.com/office/drawing/2014/main" id="{6AE46E0B-E1FE-4C97-BDF8-F505D5FB6615}"/>
              </a:ext>
            </a:extLst>
          </p:cNvPr>
          <p:cNvSpPr>
            <a:spLocks noGrp="1"/>
          </p:cNvSpPr>
          <p:nvPr/>
        </p:nvSpPr>
        <p:spPr>
          <a:xfrm>
            <a:off x="8858250" y="3219450"/>
            <a:ext cx="914400" cy="666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body-8">
            <a:extLst>
              <a:ext uri="{FF2B5EF4-FFF2-40B4-BE49-F238E27FC236}">
                <a16:creationId xmlns:a16="http://schemas.microsoft.com/office/drawing/2014/main" id="{030CEE9D-89B0-466C-8DA3-F3DF58BA5360}"/>
              </a:ext>
            </a:extLst>
          </p:cNvPr>
          <p:cNvSpPr>
            <a:spLocks noGrp="1"/>
          </p:cNvSpPr>
          <p:nvPr/>
        </p:nvSpPr>
        <p:spPr>
          <a:xfrm>
            <a:off x="8858250" y="3619500"/>
            <a:ext cx="2857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Allocation, maximum, and need matrices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Available-resource calculation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Safe sequence required before grant</a:t>
            </a:r>
          </a:p>
        </p:txBody>
      </p:sp>
      <p:sp>
        <p:nvSpPr>
          <p:cNvPr id="7" name="footer-8">
            <a:extLst>
              <a:ext uri="{FF2B5EF4-FFF2-40B4-BE49-F238E27FC236}">
                <a16:creationId xmlns:a16="http://schemas.microsoft.com/office/drawing/2014/main" id="{D305A75B-22B0-4775-960A-49B50FAD9951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8/12</a:t>
            </a:r>
          </a:p>
        </p:txBody>
      </p:sp>
      <p:pic>
        <p:nvPicPr>
          <p:cNvPr id="2" name="08">
            <a:hlinkClick r:id="" action="ppaction://media"/>
            <a:extLst>
              <a:ext uri="{FF2B5EF4-FFF2-40B4-BE49-F238E27FC236}">
                <a16:creationId xmlns:a16="http://schemas.microsoft.com/office/drawing/2014/main" id="{EBAFC884-F993-2643-DCA2-1CBD747803E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64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0706"/>
    </mc:Choice>
    <mc:Fallback>
      <p:transition spd="slow" advClick="0" advTm="2070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990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creen-9-frame">
            <a:extLst>
              <a:ext uri="{FF2B5EF4-FFF2-40B4-BE49-F238E27FC236}">
                <a16:creationId xmlns:a16="http://schemas.microsoft.com/office/drawing/2014/main" id="{477ED472-C494-475C-966F-0744500A4310}"/>
              </a:ext>
            </a:extLst>
          </p:cNvPr>
          <p:cNvSpPr>
            <a:spLocks noGrp="1"/>
          </p:cNvSpPr>
          <p:nvPr/>
        </p:nvSpPr>
        <p:spPr>
          <a:xfrm>
            <a:off x="3695700" y="361950"/>
            <a:ext cx="8172450" cy="6148388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733800" y="400050"/>
            <a:ext cx="8096250" cy="6072188"/>
          </a:xfrm>
          <a:prstGeom prst="rect">
            <a:avLst/>
          </a:prstGeom>
        </p:spPr>
      </p:pic>
      <p:sp>
        <p:nvSpPr>
          <p:cNvPr id="3" name="kicker-9">
            <a:extLst>
              <a:ext uri="{FF2B5EF4-FFF2-40B4-BE49-F238E27FC236}">
                <a16:creationId xmlns:a16="http://schemas.microsoft.com/office/drawing/2014/main" id="{F36A1353-EC9D-4265-83CB-AC6F13F3EFB2}"/>
              </a:ext>
            </a:extLst>
          </p:cNvPr>
          <p:cNvSpPr>
            <a:spLocks noGrp="1"/>
          </p:cNvSpPr>
          <p:nvPr/>
        </p:nvSpPr>
        <p:spPr>
          <a:xfrm>
            <a:off x="36195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LIVE KERNEL PROOF · 08</a:t>
            </a:r>
          </a:p>
        </p:txBody>
      </p:sp>
      <p:sp>
        <p:nvSpPr>
          <p:cNvPr id="4" name="title-9">
            <a:extLst>
              <a:ext uri="{FF2B5EF4-FFF2-40B4-BE49-F238E27FC236}">
                <a16:creationId xmlns:a16="http://schemas.microsoft.com/office/drawing/2014/main" id="{EADF000F-98F9-4D17-B973-6302C9515DAB}"/>
              </a:ext>
            </a:extLst>
          </p:cNvPr>
          <p:cNvSpPr>
            <a:spLocks noGrp="1"/>
          </p:cNvSpPr>
          <p:nvPr/>
        </p:nvSpPr>
        <p:spPr>
          <a:xfrm>
            <a:off x="361950" y="120015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Paging makes address translation observable</a:t>
            </a:r>
          </a:p>
        </p:txBody>
      </p:sp>
      <p:sp>
        <p:nvSpPr>
          <p:cNvPr id="5" name="accent-9">
            <a:extLst>
              <a:ext uri="{FF2B5EF4-FFF2-40B4-BE49-F238E27FC236}">
                <a16:creationId xmlns:a16="http://schemas.microsoft.com/office/drawing/2014/main" id="{3D4663C1-C03D-4581-8D54-FC256CB2BE46}"/>
              </a:ext>
            </a:extLst>
          </p:cNvPr>
          <p:cNvSpPr>
            <a:spLocks noGrp="1"/>
          </p:cNvSpPr>
          <p:nvPr/>
        </p:nvSpPr>
        <p:spPr>
          <a:xfrm>
            <a:off x="361950" y="3219450"/>
            <a:ext cx="914400" cy="666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body-9">
            <a:extLst>
              <a:ext uri="{FF2B5EF4-FFF2-40B4-BE49-F238E27FC236}">
                <a16:creationId xmlns:a16="http://schemas.microsoft.com/office/drawing/2014/main" id="{2061F88E-9586-4E23-8B4C-242BBFD8F679}"/>
              </a:ext>
            </a:extLst>
          </p:cNvPr>
          <p:cNvSpPr>
            <a:spLocks noGrp="1"/>
          </p:cNvSpPr>
          <p:nvPr/>
        </p:nvSpPr>
        <p:spPr>
          <a:xfrm>
            <a:off x="361950" y="3619500"/>
            <a:ext cx="2857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Virtual-to-physical mapping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Hits, faults, and dirty pages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Frame ownership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FIFO replacement</a:t>
            </a:r>
          </a:p>
        </p:txBody>
      </p:sp>
      <p:sp>
        <p:nvSpPr>
          <p:cNvPr id="7" name="footer-9">
            <a:extLst>
              <a:ext uri="{FF2B5EF4-FFF2-40B4-BE49-F238E27FC236}">
                <a16:creationId xmlns:a16="http://schemas.microsoft.com/office/drawing/2014/main" id="{A29BCFAD-5EAA-4A07-BEC4-B689A205BEFF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9/12</a:t>
            </a:r>
          </a:p>
        </p:txBody>
      </p:sp>
      <p:pic>
        <p:nvPicPr>
          <p:cNvPr id="2" name="09">
            <a:hlinkClick r:id="" action="ppaction://media"/>
            <a:extLst>
              <a:ext uri="{FF2B5EF4-FFF2-40B4-BE49-F238E27FC236}">
                <a16:creationId xmlns:a16="http://schemas.microsoft.com/office/drawing/2014/main" id="{0092FB00-8086-09C8-2B22-0334E3D810A5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887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1440"/>
    </mc:Choice>
    <mc:Fallback>
      <p:transition spd="slow" advClick="0" advTm="2144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64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creen-10-frame">
            <a:extLst>
              <a:ext uri="{FF2B5EF4-FFF2-40B4-BE49-F238E27FC236}">
                <a16:creationId xmlns:a16="http://schemas.microsoft.com/office/drawing/2014/main" id="{A89C9387-39BA-4BA2-AE66-A966D7FDC90B}"/>
              </a:ext>
            </a:extLst>
          </p:cNvPr>
          <p:cNvSpPr>
            <a:spLocks noGrp="1"/>
          </p:cNvSpPr>
          <p:nvPr/>
        </p:nvSpPr>
        <p:spPr>
          <a:xfrm>
            <a:off x="323850" y="361950"/>
            <a:ext cx="8172450" cy="6148388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61950" y="400050"/>
            <a:ext cx="8096250" cy="6072188"/>
          </a:xfrm>
          <a:prstGeom prst="rect">
            <a:avLst/>
          </a:prstGeom>
        </p:spPr>
      </p:pic>
      <p:sp>
        <p:nvSpPr>
          <p:cNvPr id="3" name="kicker-10">
            <a:extLst>
              <a:ext uri="{FF2B5EF4-FFF2-40B4-BE49-F238E27FC236}">
                <a16:creationId xmlns:a16="http://schemas.microsoft.com/office/drawing/2014/main" id="{C4DB489E-F96D-4886-A366-A46CE78302D3}"/>
              </a:ext>
            </a:extLst>
          </p:cNvPr>
          <p:cNvSpPr>
            <a:spLocks noGrp="1"/>
          </p:cNvSpPr>
          <p:nvPr/>
        </p:nvSpPr>
        <p:spPr>
          <a:xfrm>
            <a:off x="885825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LIVE KERNEL PROOF · 09</a:t>
            </a:r>
          </a:p>
        </p:txBody>
      </p:sp>
      <p:sp>
        <p:nvSpPr>
          <p:cNvPr id="4" name="title-10">
            <a:extLst>
              <a:ext uri="{FF2B5EF4-FFF2-40B4-BE49-F238E27FC236}">
                <a16:creationId xmlns:a16="http://schemas.microsoft.com/office/drawing/2014/main" id="{EDE08FDD-6BE6-448A-9DC5-29DF0A5D1C87}"/>
              </a:ext>
            </a:extLst>
          </p:cNvPr>
          <p:cNvSpPr>
            <a:spLocks noGrp="1"/>
          </p:cNvSpPr>
          <p:nvPr/>
        </p:nvSpPr>
        <p:spPr>
          <a:xfrm>
            <a:off x="8858250" y="120015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Disk algorithms run on the same request queue</a:t>
            </a:r>
          </a:p>
        </p:txBody>
      </p:sp>
      <p:sp>
        <p:nvSpPr>
          <p:cNvPr id="5" name="accent-10">
            <a:extLst>
              <a:ext uri="{FF2B5EF4-FFF2-40B4-BE49-F238E27FC236}">
                <a16:creationId xmlns:a16="http://schemas.microsoft.com/office/drawing/2014/main" id="{2C918138-52A5-45BC-B180-17BB45921A1B}"/>
              </a:ext>
            </a:extLst>
          </p:cNvPr>
          <p:cNvSpPr>
            <a:spLocks noGrp="1"/>
          </p:cNvSpPr>
          <p:nvPr/>
        </p:nvSpPr>
        <p:spPr>
          <a:xfrm>
            <a:off x="8858250" y="3219450"/>
            <a:ext cx="914400" cy="666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body-10">
            <a:extLst>
              <a:ext uri="{FF2B5EF4-FFF2-40B4-BE49-F238E27FC236}">
                <a16:creationId xmlns:a16="http://schemas.microsoft.com/office/drawing/2014/main" id="{4522B901-0568-4794-BEAD-52B49C486011}"/>
              </a:ext>
            </a:extLst>
          </p:cNvPr>
          <p:cNvSpPr>
            <a:spLocks noGrp="1"/>
          </p:cNvSpPr>
          <p:nvPr/>
        </p:nvSpPr>
        <p:spPr>
          <a:xfrm>
            <a:off x="8858250" y="3619500"/>
            <a:ext cx="2857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FCFS · SSTF · SCAN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C-SCAN · C-LOOK</a:t>
            </a:r>
          </a:p>
          <a:p>
            <a:endParaRPr sz="1725">
              <a:solidFill>
                <a:srgbClr val="334155"/>
              </a:solidFill>
            </a:endParaRP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Total head movement provides a direct comparison.</a:t>
            </a:r>
          </a:p>
        </p:txBody>
      </p:sp>
      <p:sp>
        <p:nvSpPr>
          <p:cNvPr id="7" name="footer-10">
            <a:extLst>
              <a:ext uri="{FF2B5EF4-FFF2-40B4-BE49-F238E27FC236}">
                <a16:creationId xmlns:a16="http://schemas.microsoft.com/office/drawing/2014/main" id="{B8ACE0F8-BAF9-4F63-896B-2DAFC40D8EAD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10/12</a:t>
            </a:r>
          </a:p>
        </p:txBody>
      </p:sp>
      <p:pic>
        <p:nvPicPr>
          <p:cNvPr id="2" name="10">
            <a:hlinkClick r:id="" action="ppaction://media"/>
            <a:extLst>
              <a:ext uri="{FF2B5EF4-FFF2-40B4-BE49-F238E27FC236}">
                <a16:creationId xmlns:a16="http://schemas.microsoft.com/office/drawing/2014/main" id="{B87F4942-E480-EA67-A077-09F1BEF90F3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315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19016"/>
    </mc:Choice>
    <mc:Fallback>
      <p:transition spd="slow" advClick="0" advTm="1901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21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creen-11-frame">
            <a:extLst>
              <a:ext uri="{FF2B5EF4-FFF2-40B4-BE49-F238E27FC236}">
                <a16:creationId xmlns:a16="http://schemas.microsoft.com/office/drawing/2014/main" id="{4A3DA682-214C-40D1-952B-B8A5D5FFBC5F}"/>
              </a:ext>
            </a:extLst>
          </p:cNvPr>
          <p:cNvSpPr>
            <a:spLocks noGrp="1"/>
          </p:cNvSpPr>
          <p:nvPr/>
        </p:nvSpPr>
        <p:spPr>
          <a:xfrm>
            <a:off x="3695700" y="361950"/>
            <a:ext cx="8172450" cy="6148388"/>
          </a:xfrm>
          <a:prstGeom prst="rect">
            <a:avLst/>
          </a:prstGeom>
          <a:solidFill>
            <a:srgbClr val="0B1B2A"/>
          </a:solidFill>
          <a:ln w="19050">
            <a:solidFill>
              <a:srgbClr val="22CDB6"/>
            </a:solidFill>
            <a:prstDash val="solid"/>
          </a:ln>
        </p:spPr>
      </p:sp>
      <p:pic>
        <p:nvPicPr>
          <p:cNvPr id="9" name="Picture 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3733800" y="400050"/>
            <a:ext cx="8096250" cy="6072188"/>
          </a:xfrm>
          <a:prstGeom prst="rect">
            <a:avLst/>
          </a:prstGeom>
        </p:spPr>
      </p:pic>
      <p:sp>
        <p:nvSpPr>
          <p:cNvPr id="3" name="kicker-11">
            <a:extLst>
              <a:ext uri="{FF2B5EF4-FFF2-40B4-BE49-F238E27FC236}">
                <a16:creationId xmlns:a16="http://schemas.microsoft.com/office/drawing/2014/main" id="{AEECFB72-6325-470A-AC59-2350EF2FCA47}"/>
              </a:ext>
            </a:extLst>
          </p:cNvPr>
          <p:cNvSpPr>
            <a:spLocks noGrp="1"/>
          </p:cNvSpPr>
          <p:nvPr/>
        </p:nvSpPr>
        <p:spPr>
          <a:xfrm>
            <a:off x="361950" y="66675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LIVE KERNEL PROOF · 10</a:t>
            </a:r>
          </a:p>
        </p:txBody>
      </p:sp>
      <p:sp>
        <p:nvSpPr>
          <p:cNvPr id="4" name="title-11">
            <a:extLst>
              <a:ext uri="{FF2B5EF4-FFF2-40B4-BE49-F238E27FC236}">
                <a16:creationId xmlns:a16="http://schemas.microsoft.com/office/drawing/2014/main" id="{B9D1C9D1-7E92-40FC-8861-F151B5DE7CD3}"/>
              </a:ext>
            </a:extLst>
          </p:cNvPr>
          <p:cNvSpPr>
            <a:spLocks noGrp="1"/>
          </p:cNvSpPr>
          <p:nvPr/>
        </p:nvSpPr>
        <p:spPr>
          <a:xfrm>
            <a:off x="361950" y="1200150"/>
            <a:ext cx="2857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850" b="1">
                <a:solidFill>
                  <a:srgbClr val="111827"/>
                </a:solidFill>
              </a:defRPr>
            </a:pPr>
            <a:r>
              <a:rPr sz="2850" b="1">
                <a:solidFill>
                  <a:srgbClr val="111827"/>
                </a:solidFill>
              </a:rPr>
              <a:t>I/O modes report their work with live counters</a:t>
            </a:r>
          </a:p>
        </p:txBody>
      </p:sp>
      <p:sp>
        <p:nvSpPr>
          <p:cNvPr id="5" name="accent-11">
            <a:extLst>
              <a:ext uri="{FF2B5EF4-FFF2-40B4-BE49-F238E27FC236}">
                <a16:creationId xmlns:a16="http://schemas.microsoft.com/office/drawing/2014/main" id="{70E2C2B9-E2BD-421E-8945-D8A76A2077D6}"/>
              </a:ext>
            </a:extLst>
          </p:cNvPr>
          <p:cNvSpPr>
            <a:spLocks noGrp="1"/>
          </p:cNvSpPr>
          <p:nvPr/>
        </p:nvSpPr>
        <p:spPr>
          <a:xfrm>
            <a:off x="361950" y="3219450"/>
            <a:ext cx="914400" cy="666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6" name="body-11">
            <a:extLst>
              <a:ext uri="{FF2B5EF4-FFF2-40B4-BE49-F238E27FC236}">
                <a16:creationId xmlns:a16="http://schemas.microsoft.com/office/drawing/2014/main" id="{514537FF-3F2A-47D0-BCD9-A3DBA378FCA9}"/>
              </a:ext>
            </a:extLst>
          </p:cNvPr>
          <p:cNvSpPr>
            <a:spLocks noGrp="1"/>
          </p:cNvSpPr>
          <p:nvPr/>
        </p:nvSpPr>
        <p:spPr>
          <a:xfrm>
            <a:off x="361950" y="3619500"/>
            <a:ext cx="28575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Polling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Interrupt-driven I/O</a:t>
            </a: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Direct memory access</a:t>
            </a:r>
          </a:p>
          <a:p>
            <a:endParaRPr sz="1725">
              <a:solidFill>
                <a:srgbClr val="334155"/>
              </a:solidFill>
            </a:endParaRPr>
          </a:p>
          <a:p>
            <a:pPr>
              <a:defRPr sz="1725">
                <a:solidFill>
                  <a:srgbClr val="334155"/>
                </a:solidFill>
              </a:defRPr>
            </a:pPr>
            <a:r>
              <a:rPr sz="1725">
                <a:solidFill>
                  <a:srgbClr val="334155"/>
                </a:solidFill>
              </a:rPr>
              <a:t>Main course concepts complete through Chapter 13.</a:t>
            </a:r>
          </a:p>
        </p:txBody>
      </p:sp>
      <p:sp>
        <p:nvSpPr>
          <p:cNvPr id="7" name="footer-11">
            <a:extLst>
              <a:ext uri="{FF2B5EF4-FFF2-40B4-BE49-F238E27FC236}">
                <a16:creationId xmlns:a16="http://schemas.microsoft.com/office/drawing/2014/main" id="{0D2F138F-EEA7-4411-A464-0F2FECF4B9EE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11/12</a:t>
            </a:r>
          </a:p>
        </p:txBody>
      </p:sp>
      <p:pic>
        <p:nvPicPr>
          <p:cNvPr id="2" name="11">
            <a:hlinkClick r:id="" action="ppaction://media"/>
            <a:extLst>
              <a:ext uri="{FF2B5EF4-FFF2-40B4-BE49-F238E27FC236}">
                <a16:creationId xmlns:a16="http://schemas.microsoft.com/office/drawing/2014/main" id="{E7D0CEFF-FCC8-7D54-D7A6-D943FFE5EE6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6654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2906"/>
    </mc:Choice>
    <mc:Fallback>
      <p:transition spd="slow" advClick="0" advTm="22906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2106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sing-kicker">
            <a:extLst>
              <a:ext uri="{FF2B5EF4-FFF2-40B4-BE49-F238E27FC236}">
                <a16:creationId xmlns:a16="http://schemas.microsoft.com/office/drawing/2014/main" id="{8DA830F2-31AB-4323-A4F3-F09602346812}"/>
              </a:ext>
            </a:extLst>
          </p:cNvPr>
          <p:cNvSpPr>
            <a:spLocks noGrp="1"/>
          </p:cNvSpPr>
          <p:nvPr/>
        </p:nvSpPr>
        <p:spPr>
          <a:xfrm>
            <a:off x="514350" y="457200"/>
            <a:ext cx="2381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JAS OS</a:t>
            </a:r>
          </a:p>
        </p:txBody>
      </p:sp>
      <p:sp>
        <p:nvSpPr>
          <p:cNvPr id="2" name="closing-title">
            <a:extLst>
              <a:ext uri="{FF2B5EF4-FFF2-40B4-BE49-F238E27FC236}">
                <a16:creationId xmlns:a16="http://schemas.microsoft.com/office/drawing/2014/main" id="{AF10EFA5-48CA-4DD0-AAF8-4F3DEC041B17}"/>
              </a:ext>
            </a:extLst>
          </p:cNvPr>
          <p:cNvSpPr>
            <a:spLocks noGrp="1"/>
          </p:cNvSpPr>
          <p:nvPr/>
        </p:nvSpPr>
        <p:spPr>
          <a:xfrm>
            <a:off x="514350" y="1666875"/>
            <a:ext cx="9620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4800" b="1">
                <a:solidFill>
                  <a:srgbClr val="111827"/>
                </a:solidFill>
              </a:defRPr>
            </a:pPr>
            <a:r>
              <a:rPr sz="4800" b="1">
                <a:solidFill>
                  <a:srgbClr val="111827"/>
                </a:solidFill>
              </a:rPr>
              <a:t>Built to prove my OS understanding</a:t>
            </a:r>
          </a:p>
        </p:txBody>
      </p:sp>
      <p:sp>
        <p:nvSpPr>
          <p:cNvPr id="3" name="closing-rule">
            <a:extLst>
              <a:ext uri="{FF2B5EF4-FFF2-40B4-BE49-F238E27FC236}">
                <a16:creationId xmlns:a16="http://schemas.microsoft.com/office/drawing/2014/main" id="{05D5CEBA-3655-488C-B866-6CC4FB0F7ABB}"/>
              </a:ext>
            </a:extLst>
          </p:cNvPr>
          <p:cNvSpPr>
            <a:spLocks noGrp="1"/>
          </p:cNvSpPr>
          <p:nvPr/>
        </p:nvSpPr>
        <p:spPr>
          <a:xfrm>
            <a:off x="514350" y="3276600"/>
            <a:ext cx="11125200" cy="28575"/>
          </a:xfrm>
          <a:prstGeom prst="rect">
            <a:avLst/>
          </a:prstGeom>
          <a:solidFill>
            <a:srgbClr val="22CDB6"/>
          </a:solidFill>
          <a:ln w="0">
            <a:noFill/>
            <a:prstDash val="solid"/>
          </a:ln>
        </p:spPr>
      </p:sp>
      <p:sp>
        <p:nvSpPr>
          <p:cNvPr id="4" name="closing-body">
            <a:extLst>
              <a:ext uri="{FF2B5EF4-FFF2-40B4-BE49-F238E27FC236}">
                <a16:creationId xmlns:a16="http://schemas.microsoft.com/office/drawing/2014/main" id="{E9B86604-E59C-49DC-B374-2B3666056670}"/>
              </a:ext>
            </a:extLst>
          </p:cNvPr>
          <p:cNvSpPr>
            <a:spLocks noGrp="1"/>
          </p:cNvSpPr>
          <p:nvPr/>
        </p:nvSpPr>
        <p:spPr>
          <a:xfrm>
            <a:off x="514350" y="3752850"/>
            <a:ext cx="6858000" cy="2095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2100">
                <a:solidFill>
                  <a:srgbClr val="334155"/>
                </a:solidFill>
              </a:defRPr>
            </a:pPr>
            <a:r>
              <a:rPr sz="2100">
                <a:solidFill>
                  <a:srgbClr val="334155"/>
                </a:solidFill>
              </a:rPr>
              <a:t>Bootable ISO</a:t>
            </a:r>
          </a:p>
          <a:p>
            <a:pPr>
              <a:defRPr sz="2100">
                <a:solidFill>
                  <a:srgbClr val="334155"/>
                </a:solidFill>
              </a:defRPr>
            </a:pPr>
            <a:r>
              <a:rPr sz="2100">
                <a:solidFill>
                  <a:srgbClr val="334155"/>
                </a:solidFill>
              </a:rPr>
              <a:t>Freestanding x86 kernel</a:t>
            </a:r>
          </a:p>
          <a:p>
            <a:pPr>
              <a:defRPr sz="2100">
                <a:solidFill>
                  <a:srgbClr val="334155"/>
                </a:solidFill>
              </a:defRPr>
            </a:pPr>
            <a:r>
              <a:rPr sz="2100">
                <a:solidFill>
                  <a:srgbClr val="334155"/>
                </a:solidFill>
              </a:rPr>
              <a:t>Live evidence for Chapters 1–13</a:t>
            </a:r>
          </a:p>
          <a:p>
            <a:pPr>
              <a:defRPr sz="2100">
                <a:solidFill>
                  <a:srgbClr val="334155"/>
                </a:solidFill>
              </a:defRPr>
            </a:pPr>
            <a:r>
              <a:rPr sz="2100">
                <a:solidFill>
                  <a:srgbClr val="334155"/>
                </a:solidFill>
              </a:rPr>
              <a:t>STAR report and source on GitHub</a:t>
            </a:r>
          </a:p>
        </p:txBody>
      </p:sp>
      <p:sp>
        <p:nvSpPr>
          <p:cNvPr id="5" name="closing-url">
            <a:extLst>
              <a:ext uri="{FF2B5EF4-FFF2-40B4-BE49-F238E27FC236}">
                <a16:creationId xmlns:a16="http://schemas.microsoft.com/office/drawing/2014/main" id="{B7B9F710-7B1C-4100-B5BE-10E7A4863E64}"/>
              </a:ext>
            </a:extLst>
          </p:cNvPr>
          <p:cNvSpPr>
            <a:spLocks noGrp="1"/>
          </p:cNvSpPr>
          <p:nvPr/>
        </p:nvSpPr>
        <p:spPr>
          <a:xfrm>
            <a:off x="7429500" y="5143500"/>
            <a:ext cx="4191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F766E"/>
                </a:solidFill>
              </a:defRPr>
            </a:pPr>
            <a:r>
              <a:rPr sz="1650" b="1">
                <a:solidFill>
                  <a:srgbClr val="0F766E"/>
                </a:solidFill>
              </a:rPr>
              <a:t>github.com/Jubayed-Sahel/JAS-OS</a:t>
            </a:r>
          </a:p>
        </p:txBody>
      </p:sp>
      <p:sp>
        <p:nvSpPr>
          <p:cNvPr id="6" name="footer-12">
            <a:extLst>
              <a:ext uri="{FF2B5EF4-FFF2-40B4-BE49-F238E27FC236}">
                <a16:creationId xmlns:a16="http://schemas.microsoft.com/office/drawing/2014/main" id="{0683C346-49BE-40E4-8A89-D84498CF60C7}"/>
              </a:ext>
            </a:extLst>
          </p:cNvPr>
          <p:cNvSpPr>
            <a:spLocks noGrp="1"/>
          </p:cNvSpPr>
          <p:nvPr/>
        </p:nvSpPr>
        <p:spPr>
          <a:xfrm>
            <a:off x="9858375" y="6534150"/>
            <a:ext cx="18573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>
                <a:solidFill>
                  <a:srgbClr val="64748B"/>
                </a:solidFill>
              </a:defRPr>
            </a:pPr>
            <a:r>
              <a:rPr sz="900">
                <a:solidFill>
                  <a:srgbClr val="64748B"/>
                </a:solidFill>
              </a:rPr>
              <a:t>JAS OS  ·  12/12</a:t>
            </a:r>
          </a:p>
        </p:txBody>
      </p:sp>
      <p:pic>
        <p:nvPicPr>
          <p:cNvPr id="8" name="12">
            <a:hlinkClick r:id="" action="ppaction://media"/>
            <a:extLst>
              <a:ext uri="{FF2B5EF4-FFF2-40B4-BE49-F238E27FC236}">
                <a16:creationId xmlns:a16="http://schemas.microsoft.com/office/drawing/2014/main" id="{47188264-DEE3-1AA4-D09F-F2B6FC4529F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791200" y="3124200"/>
            <a:ext cx="152400" cy="15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0668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Click="0" advTm="22720"/>
    </mc:Choice>
    <mc:Fallback>
      <p:transition spd="slow" advClick="0" advTm="2272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92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</Words>
  <Application>Microsoft Office PowerPoint</Application>
  <DocSecurity>0</DocSecurity>
  <PresentationFormat>Widescreen</PresentationFormat>
  <Paragraphs>81</Paragraphs>
  <Slides>12</Slides>
  <Notes>12</Notes>
  <HiddenSlides>0</HiddenSlides>
  <MMClips>12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4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sahel ahmed</cp:lastModifiedBy>
  <cp:revision>1</cp:revision>
  <dcterms:created xsi:type="dcterms:W3CDTF">2026-08-21T17:01:49Z</dcterms:created>
  <dcterms:modified xsi:type="dcterms:W3CDTF">2026-08-21T17:02:23Z</dcterms:modified>
</cp:coreProperties>
</file>