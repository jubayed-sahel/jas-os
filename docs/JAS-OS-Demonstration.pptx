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wav"/><Relationship Id="rId1" Type="http://schemas.microsoft.com/office/2007/relationships/media" Target="../media/media11.wav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pening-kicker">
            <a:extLst>
              <a:ext uri="{FF2B5EF4-FFF2-40B4-BE49-F238E27FC236}">
                <a16:creationId xmlns:a16="http://schemas.microsoft.com/office/drawing/2014/main" id="{FF27041E-1627-47AD-8046-4A881DAF357C}"/>
              </a:ext>
            </a:extLst>
          </p:cNvPr>
          <p:cNvSpPr>
            <a:spLocks noGrp="1"/>
          </p:cNvSpPr>
          <p:nvPr/>
        </p:nvSpPr>
        <p:spPr>
          <a:xfrm>
            <a:off x="495300" y="5143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CSE 323 · EDUCATIONAL OPERATING SYSTEM</a:t>
            </a:r>
          </a:p>
        </p:txBody>
      </p:sp>
      <p:sp>
        <p:nvSpPr>
          <p:cNvPr id="2" name="opening-title">
            <a:extLst>
              <a:ext uri="{FF2B5EF4-FFF2-40B4-BE49-F238E27FC236}">
                <a16:creationId xmlns:a16="http://schemas.microsoft.com/office/drawing/2014/main" id="{63486EF4-4A38-4E16-920C-D0FE10CE9B7B}"/>
              </a:ext>
            </a:extLst>
          </p:cNvPr>
          <p:cNvSpPr>
            <a:spLocks noGrp="1"/>
          </p:cNvSpPr>
          <p:nvPr/>
        </p:nvSpPr>
        <p:spPr>
          <a:xfrm>
            <a:off x="495300" y="1181100"/>
            <a:ext cx="4572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850" b="1">
                <a:solidFill>
                  <a:srgbClr val="111827"/>
                </a:solidFill>
              </a:defRPr>
            </a:pPr>
            <a:r>
              <a:rPr sz="5850" b="1">
                <a:solidFill>
                  <a:srgbClr val="111827"/>
                </a:solidFill>
              </a:rPr>
              <a:t>JAS OS</a:t>
            </a:r>
          </a:p>
        </p:txBody>
      </p:sp>
      <p:sp>
        <p:nvSpPr>
          <p:cNvPr id="3" name="opening-subtitle">
            <a:extLst>
              <a:ext uri="{FF2B5EF4-FFF2-40B4-BE49-F238E27FC236}">
                <a16:creationId xmlns:a16="http://schemas.microsoft.com/office/drawing/2014/main" id="{968C76EF-C1A7-4582-8797-38F4424BC20B}"/>
              </a:ext>
            </a:extLst>
          </p:cNvPr>
          <p:cNvSpPr>
            <a:spLocks noGrp="1"/>
          </p:cNvSpPr>
          <p:nvPr/>
        </p:nvSpPr>
        <p:spPr>
          <a:xfrm>
            <a:off x="495300" y="2381250"/>
            <a:ext cx="457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>
                <a:solidFill>
                  <a:srgbClr val="334155"/>
                </a:solidFill>
              </a:defRPr>
            </a:pPr>
            <a:r>
              <a:rPr sz="2400">
                <a:solidFill>
                  <a:srgbClr val="334155"/>
                </a:solidFill>
              </a:rPr>
              <a:t>A bootable x86 teaching kernel</a:t>
            </a:r>
          </a:p>
        </p:txBody>
      </p:sp>
      <p:sp>
        <p:nvSpPr>
          <p:cNvPr id="4" name="opening-body">
            <a:extLst>
              <a:ext uri="{FF2B5EF4-FFF2-40B4-BE49-F238E27FC236}">
                <a16:creationId xmlns:a16="http://schemas.microsoft.com/office/drawing/2014/main" id="{EC2FD74E-5F30-480E-89AA-F69908960A45}"/>
              </a:ext>
            </a:extLst>
          </p:cNvPr>
          <p:cNvSpPr>
            <a:spLocks noGrp="1"/>
          </p:cNvSpPr>
          <p:nvPr/>
        </p:nvSpPr>
        <p:spPr>
          <a:xfrm>
            <a:off x="495300" y="3733800"/>
            <a:ext cx="4476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CSE 323 · Chapters 1–13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Jubayed Ahmed Sahel · 2221173642</a:t>
            </a:r>
          </a:p>
        </p:txBody>
      </p:sp>
      <p:sp>
        <p:nvSpPr>
          <p:cNvPr id="5" name="opening-accent">
            <a:extLst>
              <a:ext uri="{FF2B5EF4-FFF2-40B4-BE49-F238E27FC236}">
                <a16:creationId xmlns:a16="http://schemas.microsoft.com/office/drawing/2014/main" id="{48D22A4A-8820-4006-B91B-0E902E6D0475}"/>
              </a:ext>
            </a:extLst>
          </p:cNvPr>
          <p:cNvSpPr>
            <a:spLocks noGrp="1"/>
          </p:cNvSpPr>
          <p:nvPr/>
        </p:nvSpPr>
        <p:spPr>
          <a:xfrm>
            <a:off x="495300" y="3352800"/>
            <a:ext cx="1257300" cy="76200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opening-screen-frame">
            <a:extLst>
              <a:ext uri="{FF2B5EF4-FFF2-40B4-BE49-F238E27FC236}">
                <a16:creationId xmlns:a16="http://schemas.microsoft.com/office/drawing/2014/main" id="{C234510F-8CD6-4317-AF1D-9B29DCA4E936}"/>
              </a:ext>
            </a:extLst>
          </p:cNvPr>
          <p:cNvSpPr>
            <a:spLocks noGrp="1"/>
          </p:cNvSpPr>
          <p:nvPr/>
        </p:nvSpPr>
        <p:spPr>
          <a:xfrm>
            <a:off x="5581650" y="838200"/>
            <a:ext cx="6076950" cy="4576763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619750" y="876300"/>
            <a:ext cx="6000750" cy="4500563"/>
          </a:xfrm>
          <a:prstGeom prst="rect">
            <a:avLst/>
          </a:prstGeom>
        </p:spPr>
      </p:pic>
      <p:sp>
        <p:nvSpPr>
          <p:cNvPr id="8" name="footer-1">
            <a:extLst>
              <a:ext uri="{FF2B5EF4-FFF2-40B4-BE49-F238E27FC236}">
                <a16:creationId xmlns:a16="http://schemas.microsoft.com/office/drawing/2014/main" id="{76A0F451-E1E4-49C3-91C0-241BE6CBD3E6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1/12</a:t>
            </a:r>
          </a:p>
        </p:txBody>
      </p:sp>
      <p:pic>
        <p:nvPicPr>
          <p:cNvPr id="7" name="01">
            <a:hlinkClick r:id="" action="ppaction://media"/>
            <a:extLst>
              <a:ext uri="{FF2B5EF4-FFF2-40B4-BE49-F238E27FC236}">
                <a16:creationId xmlns:a16="http://schemas.microsoft.com/office/drawing/2014/main" id="{BEE0E8C0-C8C9-6B1A-61B2-B601739A2A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06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235"/>
    </mc:Choice>
    <mc:Fallback>
      <p:transition spd="slow" advClick="0" advTm="212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3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2-frame">
            <a:extLst>
              <a:ext uri="{FF2B5EF4-FFF2-40B4-BE49-F238E27FC236}">
                <a16:creationId xmlns:a16="http://schemas.microsoft.com/office/drawing/2014/main" id="{C611C06B-E11C-44CB-981C-E0852CE245DB}"/>
              </a:ext>
            </a:extLst>
          </p:cNvPr>
          <p:cNvSpPr>
            <a:spLocks noGrp="1"/>
          </p:cNvSpPr>
          <p:nvPr/>
        </p:nvSpPr>
        <p:spPr>
          <a:xfrm>
            <a:off x="32385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1950" y="400050"/>
            <a:ext cx="8096250" cy="6072188"/>
          </a:xfrm>
          <a:prstGeom prst="rect">
            <a:avLst/>
          </a:prstGeom>
        </p:spPr>
      </p:pic>
      <p:sp>
        <p:nvSpPr>
          <p:cNvPr id="3" name="kicker-2">
            <a:extLst>
              <a:ext uri="{FF2B5EF4-FFF2-40B4-BE49-F238E27FC236}">
                <a16:creationId xmlns:a16="http://schemas.microsoft.com/office/drawing/2014/main" id="{F2866917-F165-4D71-8355-CD569774DE06}"/>
              </a:ext>
            </a:extLst>
          </p:cNvPr>
          <p:cNvSpPr>
            <a:spLocks noGrp="1"/>
          </p:cNvSpPr>
          <p:nvPr/>
        </p:nvSpPr>
        <p:spPr>
          <a:xfrm>
            <a:off x="88582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01</a:t>
            </a:r>
          </a:p>
        </p:txBody>
      </p:sp>
      <p:sp>
        <p:nvSpPr>
          <p:cNvPr id="4" name="title-2">
            <a:extLst>
              <a:ext uri="{FF2B5EF4-FFF2-40B4-BE49-F238E27FC236}">
                <a16:creationId xmlns:a16="http://schemas.microsoft.com/office/drawing/2014/main" id="{90A00CCF-AE3E-4CA4-A3C4-5C425A0A9458}"/>
              </a:ext>
            </a:extLst>
          </p:cNvPr>
          <p:cNvSpPr>
            <a:spLocks noGrp="1"/>
          </p:cNvSpPr>
          <p:nvPr/>
        </p:nvSpPr>
        <p:spPr>
          <a:xfrm>
            <a:off x="88582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terminal designed for explanation</a:t>
            </a:r>
          </a:p>
        </p:txBody>
      </p:sp>
      <p:sp>
        <p:nvSpPr>
          <p:cNvPr id="5" name="accent-2">
            <a:extLst>
              <a:ext uri="{FF2B5EF4-FFF2-40B4-BE49-F238E27FC236}">
                <a16:creationId xmlns:a16="http://schemas.microsoft.com/office/drawing/2014/main" id="{B38CDBC8-15D9-446C-AF23-F4B2142F3F99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2">
            <a:extLst>
              <a:ext uri="{FF2B5EF4-FFF2-40B4-BE49-F238E27FC236}">
                <a16:creationId xmlns:a16="http://schemas.microsoft.com/office/drawing/2014/main" id="{E6186171-12E4-4588-A06C-B23D2D7B3FEC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Teacher mode maps every chapter to a live proof.</a:t>
            </a:r>
          </a:p>
          <a:p>
            <a:endParaRPr sz="1725">
              <a:solidFill>
                <a:srgbClr val="334155"/>
              </a:solidFill>
            </a:endParaRP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Guide, Lectures, STOP, and clear command controls stay visible.</a:t>
            </a:r>
          </a:p>
        </p:txBody>
      </p:sp>
      <p:sp>
        <p:nvSpPr>
          <p:cNvPr id="7" name="footer-2">
            <a:extLst>
              <a:ext uri="{FF2B5EF4-FFF2-40B4-BE49-F238E27FC236}">
                <a16:creationId xmlns:a16="http://schemas.microsoft.com/office/drawing/2014/main" id="{D16920F0-1490-4A63-8016-05F024636CA6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2/12</a:t>
            </a:r>
          </a:p>
        </p:txBody>
      </p:sp>
      <p:pic>
        <p:nvPicPr>
          <p:cNvPr id="2" name="02">
            <a:hlinkClick r:id="" action="ppaction://media"/>
            <a:extLst>
              <a:ext uri="{FF2B5EF4-FFF2-40B4-BE49-F238E27FC236}">
                <a16:creationId xmlns:a16="http://schemas.microsoft.com/office/drawing/2014/main" id="{420FA775-6726-81DD-8747-C8BB304A87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96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890"/>
    </mc:Choice>
    <mc:Fallback>
      <p:transition spd="slow" advClick="0" advTm="238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9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3-frame">
            <a:extLst>
              <a:ext uri="{FF2B5EF4-FFF2-40B4-BE49-F238E27FC236}">
                <a16:creationId xmlns:a16="http://schemas.microsoft.com/office/drawing/2014/main" id="{45DBA0D2-5A56-44C5-B3BB-33CF70AB8D51}"/>
              </a:ext>
            </a:extLst>
          </p:cNvPr>
          <p:cNvSpPr>
            <a:spLocks noGrp="1"/>
          </p:cNvSpPr>
          <p:nvPr/>
        </p:nvSpPr>
        <p:spPr>
          <a:xfrm>
            <a:off x="369570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33800" y="400050"/>
            <a:ext cx="8096250" cy="6072188"/>
          </a:xfrm>
          <a:prstGeom prst="rect">
            <a:avLst/>
          </a:prstGeom>
        </p:spPr>
      </p:pic>
      <p:sp>
        <p:nvSpPr>
          <p:cNvPr id="3" name="kicker-3">
            <a:extLst>
              <a:ext uri="{FF2B5EF4-FFF2-40B4-BE49-F238E27FC236}">
                <a16:creationId xmlns:a16="http://schemas.microsoft.com/office/drawing/2014/main" id="{0A4363C7-5544-4D7E-A2D2-BCBC69EEFEB8}"/>
              </a:ext>
            </a:extLst>
          </p:cNvPr>
          <p:cNvSpPr>
            <a:spLocks noGrp="1"/>
          </p:cNvSpPr>
          <p:nvPr/>
        </p:nvSpPr>
        <p:spPr>
          <a:xfrm>
            <a:off x="3619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02</a:t>
            </a:r>
          </a:p>
        </p:txBody>
      </p:sp>
      <p:sp>
        <p:nvSpPr>
          <p:cNvPr id="4" name="title-3">
            <a:extLst>
              <a:ext uri="{FF2B5EF4-FFF2-40B4-BE49-F238E27FC236}">
                <a16:creationId xmlns:a16="http://schemas.microsoft.com/office/drawing/2014/main" id="{D718D830-8719-4532-A1A6-6C4B717FE582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kernel exposes live system state</a:t>
            </a:r>
          </a:p>
        </p:txBody>
      </p:sp>
      <p:sp>
        <p:nvSpPr>
          <p:cNvPr id="5" name="accent-3">
            <a:extLst>
              <a:ext uri="{FF2B5EF4-FFF2-40B4-BE49-F238E27FC236}">
                <a16:creationId xmlns:a16="http://schemas.microsoft.com/office/drawing/2014/main" id="{017EE1A4-3376-4911-84D2-8E771D73CF07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81E1722E-12FF-4E8D-B54F-1545491B32B0}"/>
              </a:ext>
            </a:extLst>
          </p:cNvPr>
          <p:cNvSpPr>
            <a:spLocks noGrp="1"/>
          </p:cNvSpPr>
          <p:nvPr/>
        </p:nvSpPr>
        <p:spPr>
          <a:xfrm>
            <a:off x="3619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Boot path and services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Scheduler and tasks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Heap, paging, MiniFS, storage, and I/O</a:t>
            </a:r>
          </a:p>
        </p:txBody>
      </p:sp>
      <p:sp>
        <p:nvSpPr>
          <p:cNvPr id="7" name="footer-3">
            <a:extLst>
              <a:ext uri="{FF2B5EF4-FFF2-40B4-BE49-F238E27FC236}">
                <a16:creationId xmlns:a16="http://schemas.microsoft.com/office/drawing/2014/main" id="{5AF90E26-3E53-4202-BF5F-CF65149BC8F5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3/12</a:t>
            </a:r>
          </a:p>
        </p:txBody>
      </p:sp>
      <p:pic>
        <p:nvPicPr>
          <p:cNvPr id="2" name="03">
            <a:hlinkClick r:id="" action="ppaction://media"/>
            <a:extLst>
              <a:ext uri="{FF2B5EF4-FFF2-40B4-BE49-F238E27FC236}">
                <a16:creationId xmlns:a16="http://schemas.microsoft.com/office/drawing/2014/main" id="{AB7AB85F-3D3F-C582-49F0-9BC227E390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55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3711"/>
    </mc:Choice>
    <mc:Fallback>
      <p:transition spd="slow" advClick="0" advTm="237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9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4-frame">
            <a:extLst>
              <a:ext uri="{FF2B5EF4-FFF2-40B4-BE49-F238E27FC236}">
                <a16:creationId xmlns:a16="http://schemas.microsoft.com/office/drawing/2014/main" id="{0E18C022-7DE4-4C90-8D83-2B25DD16FEC0}"/>
              </a:ext>
            </a:extLst>
          </p:cNvPr>
          <p:cNvSpPr>
            <a:spLocks noGrp="1"/>
          </p:cNvSpPr>
          <p:nvPr/>
        </p:nvSpPr>
        <p:spPr>
          <a:xfrm>
            <a:off x="32385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1950" y="400050"/>
            <a:ext cx="8096250" cy="6072188"/>
          </a:xfrm>
          <a:prstGeom prst="rect">
            <a:avLst/>
          </a:prstGeom>
        </p:spPr>
      </p:pic>
      <p:sp>
        <p:nvSpPr>
          <p:cNvPr id="3" name="kicker-4">
            <a:extLst>
              <a:ext uri="{FF2B5EF4-FFF2-40B4-BE49-F238E27FC236}">
                <a16:creationId xmlns:a16="http://schemas.microsoft.com/office/drawing/2014/main" id="{D8CFF49F-4561-4D33-B3DB-81C1E8A9EA4A}"/>
              </a:ext>
            </a:extLst>
          </p:cNvPr>
          <p:cNvSpPr>
            <a:spLocks noGrp="1"/>
          </p:cNvSpPr>
          <p:nvPr/>
        </p:nvSpPr>
        <p:spPr>
          <a:xfrm>
            <a:off x="88582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03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6B92A306-3881-47D5-899A-7C22279F9274}"/>
              </a:ext>
            </a:extLst>
          </p:cNvPr>
          <p:cNvSpPr>
            <a:spLocks noGrp="1"/>
          </p:cNvSpPr>
          <p:nvPr/>
        </p:nvSpPr>
        <p:spPr>
          <a:xfrm>
            <a:off x="88582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Processes communicate through a kernel mailbox</a:t>
            </a:r>
          </a:p>
        </p:txBody>
      </p:sp>
      <p:sp>
        <p:nvSpPr>
          <p:cNvPr id="5" name="accent-4">
            <a:extLst>
              <a:ext uri="{FF2B5EF4-FFF2-40B4-BE49-F238E27FC236}">
                <a16:creationId xmlns:a16="http://schemas.microsoft.com/office/drawing/2014/main" id="{0754079E-F8F1-439F-8958-B82F9EFB8FC4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4">
            <a:extLst>
              <a:ext uri="{FF2B5EF4-FFF2-40B4-BE49-F238E27FC236}">
                <a16:creationId xmlns:a16="http://schemas.microsoft.com/office/drawing/2014/main" id="{7021DE59-255C-45E1-B9E2-FDB508412BA5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Task control blocks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Lifecycle states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Explicit send and receive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Observable task table</a:t>
            </a:r>
          </a:p>
        </p:txBody>
      </p:sp>
      <p:sp>
        <p:nvSpPr>
          <p:cNvPr id="7" name="footer-4">
            <a:extLst>
              <a:ext uri="{FF2B5EF4-FFF2-40B4-BE49-F238E27FC236}">
                <a16:creationId xmlns:a16="http://schemas.microsoft.com/office/drawing/2014/main" id="{8ABF7F64-90F6-45EB-ABDE-B15F0DBD8E26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4/12</a:t>
            </a:r>
          </a:p>
        </p:txBody>
      </p:sp>
      <p:pic>
        <p:nvPicPr>
          <p:cNvPr id="2" name="04">
            <a:hlinkClick r:id="" action="ppaction://media"/>
            <a:extLst>
              <a:ext uri="{FF2B5EF4-FFF2-40B4-BE49-F238E27FC236}">
                <a16:creationId xmlns:a16="http://schemas.microsoft.com/office/drawing/2014/main" id="{651B4221-3583-8E1B-848D-E1EC096018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12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856"/>
    </mc:Choice>
    <mc:Fallback>
      <p:transition spd="slow" advClick="0" advTm="20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5-frame">
            <a:extLst>
              <a:ext uri="{FF2B5EF4-FFF2-40B4-BE49-F238E27FC236}">
                <a16:creationId xmlns:a16="http://schemas.microsoft.com/office/drawing/2014/main" id="{2A479D8F-5940-435A-B451-B6F9FB83422C}"/>
              </a:ext>
            </a:extLst>
          </p:cNvPr>
          <p:cNvSpPr>
            <a:spLocks noGrp="1"/>
          </p:cNvSpPr>
          <p:nvPr/>
        </p:nvSpPr>
        <p:spPr>
          <a:xfrm>
            <a:off x="369570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33800" y="400050"/>
            <a:ext cx="8096250" cy="6072188"/>
          </a:xfrm>
          <a:prstGeom prst="rect">
            <a:avLst/>
          </a:prstGeom>
        </p:spPr>
      </p:pic>
      <p:sp>
        <p:nvSpPr>
          <p:cNvPr id="3" name="kicker-5">
            <a:extLst>
              <a:ext uri="{FF2B5EF4-FFF2-40B4-BE49-F238E27FC236}">
                <a16:creationId xmlns:a16="http://schemas.microsoft.com/office/drawing/2014/main" id="{F9DF8A4A-2087-4F33-9FE1-A9FF34201A9D}"/>
              </a:ext>
            </a:extLst>
          </p:cNvPr>
          <p:cNvSpPr>
            <a:spLocks noGrp="1"/>
          </p:cNvSpPr>
          <p:nvPr/>
        </p:nvSpPr>
        <p:spPr>
          <a:xfrm>
            <a:off x="3619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04</a:t>
            </a:r>
          </a:p>
        </p:txBody>
      </p:sp>
      <p:sp>
        <p:nvSpPr>
          <p:cNvPr id="4" name="title-5">
            <a:extLst>
              <a:ext uri="{FF2B5EF4-FFF2-40B4-BE49-F238E27FC236}">
                <a16:creationId xmlns:a16="http://schemas.microsoft.com/office/drawing/2014/main" id="{1E52AFF6-F75C-426E-9F66-1BD96EA9F92E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Four CPU schedulers can be compared live</a:t>
            </a:r>
          </a:p>
        </p:txBody>
      </p:sp>
      <p:sp>
        <p:nvSpPr>
          <p:cNvPr id="5" name="accent-5">
            <a:extLst>
              <a:ext uri="{FF2B5EF4-FFF2-40B4-BE49-F238E27FC236}">
                <a16:creationId xmlns:a16="http://schemas.microsoft.com/office/drawing/2014/main" id="{00CE8674-286D-4864-95CA-EE4E12839B1A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5">
            <a:extLst>
              <a:ext uri="{FF2B5EF4-FFF2-40B4-BE49-F238E27FC236}">
                <a16:creationId xmlns:a16="http://schemas.microsoft.com/office/drawing/2014/main" id="{F5CE7D90-7710-480C-9953-737A7192A067}"/>
              </a:ext>
            </a:extLst>
          </p:cNvPr>
          <p:cNvSpPr>
            <a:spLocks noGrp="1"/>
          </p:cNvSpPr>
          <p:nvPr/>
        </p:nvSpPr>
        <p:spPr>
          <a:xfrm>
            <a:off x="3619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Round Robin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Priority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First Come First Served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Shortest Job First</a:t>
            </a:r>
          </a:p>
        </p:txBody>
      </p:sp>
      <p:sp>
        <p:nvSpPr>
          <p:cNvPr id="7" name="footer-5">
            <a:extLst>
              <a:ext uri="{FF2B5EF4-FFF2-40B4-BE49-F238E27FC236}">
                <a16:creationId xmlns:a16="http://schemas.microsoft.com/office/drawing/2014/main" id="{752AA104-F339-4F64-B212-07D7DFC818C1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5/12</a:t>
            </a:r>
          </a:p>
        </p:txBody>
      </p:sp>
      <p:pic>
        <p:nvPicPr>
          <p:cNvPr id="2" name="05">
            <a:hlinkClick r:id="" action="ppaction://media"/>
            <a:extLst>
              <a:ext uri="{FF2B5EF4-FFF2-40B4-BE49-F238E27FC236}">
                <a16:creationId xmlns:a16="http://schemas.microsoft.com/office/drawing/2014/main" id="{12F1CC69-77A7-0C77-0627-69A74ADB1A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2056"/>
    </mc:Choice>
    <mc:Fallback>
      <p:transition spd="slow" advClick="0" advTm="220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2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6-frame">
            <a:extLst>
              <a:ext uri="{FF2B5EF4-FFF2-40B4-BE49-F238E27FC236}">
                <a16:creationId xmlns:a16="http://schemas.microsoft.com/office/drawing/2014/main" id="{F7527211-E19D-4C98-9611-A304D08C8F47}"/>
              </a:ext>
            </a:extLst>
          </p:cNvPr>
          <p:cNvSpPr>
            <a:spLocks noGrp="1"/>
          </p:cNvSpPr>
          <p:nvPr/>
        </p:nvSpPr>
        <p:spPr>
          <a:xfrm>
            <a:off x="32385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1950" y="400050"/>
            <a:ext cx="8096250" cy="6072188"/>
          </a:xfrm>
          <a:prstGeom prst="rect">
            <a:avLst/>
          </a:prstGeom>
        </p:spPr>
      </p:pic>
      <p:sp>
        <p:nvSpPr>
          <p:cNvPr id="3" name="kicker-6">
            <a:extLst>
              <a:ext uri="{FF2B5EF4-FFF2-40B4-BE49-F238E27FC236}">
                <a16:creationId xmlns:a16="http://schemas.microsoft.com/office/drawing/2014/main" id="{0E8D1C5D-BB7B-4AC9-AA5D-5B8068B72B25}"/>
              </a:ext>
            </a:extLst>
          </p:cNvPr>
          <p:cNvSpPr>
            <a:spLocks noGrp="1"/>
          </p:cNvSpPr>
          <p:nvPr/>
        </p:nvSpPr>
        <p:spPr>
          <a:xfrm>
            <a:off x="88582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05</a:t>
            </a:r>
          </a:p>
        </p:txBody>
      </p:sp>
      <p:sp>
        <p:nvSpPr>
          <p:cNvPr id="4" name="title-6">
            <a:extLst>
              <a:ext uri="{FF2B5EF4-FFF2-40B4-BE49-F238E27FC236}">
                <a16:creationId xmlns:a16="http://schemas.microsoft.com/office/drawing/2014/main" id="{FF748D9C-7C07-486C-9C7D-38A4B61F1953}"/>
              </a:ext>
            </a:extLst>
          </p:cNvPr>
          <p:cNvSpPr>
            <a:spLocks noGrp="1"/>
          </p:cNvSpPr>
          <p:nvPr/>
        </p:nvSpPr>
        <p:spPr>
          <a:xfrm>
            <a:off x="88582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Semaphores protect shared state</a:t>
            </a:r>
          </a:p>
        </p:txBody>
      </p:sp>
      <p:sp>
        <p:nvSpPr>
          <p:cNvPr id="5" name="accent-6">
            <a:extLst>
              <a:ext uri="{FF2B5EF4-FFF2-40B4-BE49-F238E27FC236}">
                <a16:creationId xmlns:a16="http://schemas.microsoft.com/office/drawing/2014/main" id="{06D679B3-1E4C-4C1E-B019-9B1F2C13E41A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6">
            <a:extLst>
              <a:ext uri="{FF2B5EF4-FFF2-40B4-BE49-F238E27FC236}">
                <a16:creationId xmlns:a16="http://schemas.microsoft.com/office/drawing/2014/main" id="{AC1A3114-904E-43CB-A3A1-7223FE1DC6B0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Concurrent readers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Exclusive writer access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Visible waiting and progress counters</a:t>
            </a:r>
          </a:p>
        </p:txBody>
      </p:sp>
      <p:sp>
        <p:nvSpPr>
          <p:cNvPr id="7" name="footer-6">
            <a:extLst>
              <a:ext uri="{FF2B5EF4-FFF2-40B4-BE49-F238E27FC236}">
                <a16:creationId xmlns:a16="http://schemas.microsoft.com/office/drawing/2014/main" id="{4D7AE225-A30E-4334-ADED-5DD1E0D085B4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6/12</a:t>
            </a:r>
          </a:p>
        </p:txBody>
      </p:sp>
      <p:pic>
        <p:nvPicPr>
          <p:cNvPr id="2" name="06">
            <a:hlinkClick r:id="" action="ppaction://media"/>
            <a:extLst>
              <a:ext uri="{FF2B5EF4-FFF2-40B4-BE49-F238E27FC236}">
                <a16:creationId xmlns:a16="http://schemas.microsoft.com/office/drawing/2014/main" id="{DD5D38C4-2ED2-01FE-8C56-B9E61A3F31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6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9581"/>
    </mc:Choice>
    <mc:Fallback>
      <p:transition spd="slow" advClick="0" advTm="195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78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7-frame">
            <a:extLst>
              <a:ext uri="{FF2B5EF4-FFF2-40B4-BE49-F238E27FC236}">
                <a16:creationId xmlns:a16="http://schemas.microsoft.com/office/drawing/2014/main" id="{D58D901A-D3E4-4059-95F8-FCF3665E500E}"/>
              </a:ext>
            </a:extLst>
          </p:cNvPr>
          <p:cNvSpPr>
            <a:spLocks noGrp="1"/>
          </p:cNvSpPr>
          <p:nvPr/>
        </p:nvSpPr>
        <p:spPr>
          <a:xfrm>
            <a:off x="369570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33800" y="400050"/>
            <a:ext cx="8096250" cy="6072188"/>
          </a:xfrm>
          <a:prstGeom prst="rect">
            <a:avLst/>
          </a:prstGeom>
        </p:spPr>
      </p:pic>
      <p:sp>
        <p:nvSpPr>
          <p:cNvPr id="3" name="kicker-7">
            <a:extLst>
              <a:ext uri="{FF2B5EF4-FFF2-40B4-BE49-F238E27FC236}">
                <a16:creationId xmlns:a16="http://schemas.microsoft.com/office/drawing/2014/main" id="{3C3BEE55-B2FB-4D79-BC40-02E060DE28A0}"/>
              </a:ext>
            </a:extLst>
          </p:cNvPr>
          <p:cNvSpPr>
            <a:spLocks noGrp="1"/>
          </p:cNvSpPr>
          <p:nvPr/>
        </p:nvSpPr>
        <p:spPr>
          <a:xfrm>
            <a:off x="3619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06</a:t>
            </a:r>
          </a:p>
        </p:txBody>
      </p:sp>
      <p:sp>
        <p:nvSpPr>
          <p:cNvPr id="4" name="title-7">
            <a:extLst>
              <a:ext uri="{FF2B5EF4-FFF2-40B4-BE49-F238E27FC236}">
                <a16:creationId xmlns:a16="http://schemas.microsoft.com/office/drawing/2014/main" id="{842466D1-18FE-4DE2-B43C-C894FDE670F4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One stop command ends all terminal activity</a:t>
            </a:r>
          </a:p>
        </p:txBody>
      </p:sp>
      <p:sp>
        <p:nvSpPr>
          <p:cNvPr id="5" name="accent-7">
            <a:extLst>
              <a:ext uri="{FF2B5EF4-FFF2-40B4-BE49-F238E27FC236}">
                <a16:creationId xmlns:a16="http://schemas.microsoft.com/office/drawing/2014/main" id="{713BCE48-02E1-4FB9-A77C-A28EE6CAC246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7">
            <a:extLst>
              <a:ext uri="{FF2B5EF4-FFF2-40B4-BE49-F238E27FC236}">
                <a16:creationId xmlns:a16="http://schemas.microsoft.com/office/drawing/2014/main" id="{8A17BFF4-B065-451B-8D6A-B22F22E09A3D}"/>
              </a:ext>
            </a:extLst>
          </p:cNvPr>
          <p:cNvSpPr>
            <a:spLocks noGrp="1"/>
          </p:cNvSpPr>
          <p:nvPr/>
        </p:nvSpPr>
        <p:spPr>
          <a:xfrm>
            <a:off x="3619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Kills non-shell jobs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Stops background output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Keeps the terminal responsive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Also available as a red STOP button</a:t>
            </a:r>
          </a:p>
        </p:txBody>
      </p:sp>
      <p:sp>
        <p:nvSpPr>
          <p:cNvPr id="7" name="footer-7">
            <a:extLst>
              <a:ext uri="{FF2B5EF4-FFF2-40B4-BE49-F238E27FC236}">
                <a16:creationId xmlns:a16="http://schemas.microsoft.com/office/drawing/2014/main" id="{2A0161CB-B31F-40D9-BE51-93E22B90234F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7/12</a:t>
            </a:r>
          </a:p>
        </p:txBody>
      </p:sp>
      <p:pic>
        <p:nvPicPr>
          <p:cNvPr id="2" name="07">
            <a:hlinkClick r:id="" action="ppaction://media"/>
            <a:extLst>
              <a:ext uri="{FF2B5EF4-FFF2-40B4-BE49-F238E27FC236}">
                <a16:creationId xmlns:a16="http://schemas.microsoft.com/office/drawing/2014/main" id="{928FA5C1-8BA2-1F8D-3A23-BD6239F10D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67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9636"/>
    </mc:Choice>
    <mc:Fallback>
      <p:transition spd="slow" advClick="0" advTm="196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8-frame">
            <a:extLst>
              <a:ext uri="{FF2B5EF4-FFF2-40B4-BE49-F238E27FC236}">
                <a16:creationId xmlns:a16="http://schemas.microsoft.com/office/drawing/2014/main" id="{7217F017-CD20-409F-8B51-939647A03738}"/>
              </a:ext>
            </a:extLst>
          </p:cNvPr>
          <p:cNvSpPr>
            <a:spLocks noGrp="1"/>
          </p:cNvSpPr>
          <p:nvPr/>
        </p:nvSpPr>
        <p:spPr>
          <a:xfrm>
            <a:off x="32385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1950" y="400050"/>
            <a:ext cx="8096250" cy="6072188"/>
          </a:xfrm>
          <a:prstGeom prst="rect">
            <a:avLst/>
          </a:prstGeom>
        </p:spPr>
      </p:pic>
      <p:sp>
        <p:nvSpPr>
          <p:cNvPr id="3" name="kicker-8">
            <a:extLst>
              <a:ext uri="{FF2B5EF4-FFF2-40B4-BE49-F238E27FC236}">
                <a16:creationId xmlns:a16="http://schemas.microsoft.com/office/drawing/2014/main" id="{9A1A70D3-B406-46A3-B973-E70FCE7B6138}"/>
              </a:ext>
            </a:extLst>
          </p:cNvPr>
          <p:cNvSpPr>
            <a:spLocks noGrp="1"/>
          </p:cNvSpPr>
          <p:nvPr/>
        </p:nvSpPr>
        <p:spPr>
          <a:xfrm>
            <a:off x="88582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07</a:t>
            </a:r>
          </a:p>
        </p:txBody>
      </p:sp>
      <p:sp>
        <p:nvSpPr>
          <p:cNvPr id="4" name="title-8">
            <a:extLst>
              <a:ext uri="{FF2B5EF4-FFF2-40B4-BE49-F238E27FC236}">
                <a16:creationId xmlns:a16="http://schemas.microsoft.com/office/drawing/2014/main" id="{5005F1D7-EEC5-4EBF-B219-22FEA5768764}"/>
              </a:ext>
            </a:extLst>
          </p:cNvPr>
          <p:cNvSpPr>
            <a:spLocks noGrp="1"/>
          </p:cNvSpPr>
          <p:nvPr/>
        </p:nvSpPr>
        <p:spPr>
          <a:xfrm>
            <a:off x="88582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Banker’s algorithm prevents unsafe allocation</a:t>
            </a:r>
          </a:p>
        </p:txBody>
      </p:sp>
      <p:sp>
        <p:nvSpPr>
          <p:cNvPr id="5" name="accent-8">
            <a:extLst>
              <a:ext uri="{FF2B5EF4-FFF2-40B4-BE49-F238E27FC236}">
                <a16:creationId xmlns:a16="http://schemas.microsoft.com/office/drawing/2014/main" id="{1D4013D8-FD91-44C6-9707-3C11DA48375A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8">
            <a:extLst>
              <a:ext uri="{FF2B5EF4-FFF2-40B4-BE49-F238E27FC236}">
                <a16:creationId xmlns:a16="http://schemas.microsoft.com/office/drawing/2014/main" id="{9B545D98-4AE6-405F-9B2C-ACDA909AFC10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Allocation, maximum, and need matrices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Available-resource calculation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Safe sequence required before grant</a:t>
            </a:r>
          </a:p>
        </p:txBody>
      </p:sp>
      <p:sp>
        <p:nvSpPr>
          <p:cNvPr id="7" name="footer-8">
            <a:extLst>
              <a:ext uri="{FF2B5EF4-FFF2-40B4-BE49-F238E27FC236}">
                <a16:creationId xmlns:a16="http://schemas.microsoft.com/office/drawing/2014/main" id="{7561F8C0-0D44-42F4-9FE4-BA3E457FA2BA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8/12</a:t>
            </a:r>
          </a:p>
        </p:txBody>
      </p:sp>
      <p:pic>
        <p:nvPicPr>
          <p:cNvPr id="2" name="08">
            <a:hlinkClick r:id="" action="ppaction://media"/>
            <a:extLst>
              <a:ext uri="{FF2B5EF4-FFF2-40B4-BE49-F238E27FC236}">
                <a16:creationId xmlns:a16="http://schemas.microsoft.com/office/drawing/2014/main" id="{24BEB22C-ED69-6F05-722A-5EC265ADAB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18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706"/>
    </mc:Choice>
    <mc:Fallback>
      <p:transition spd="slow" advClick="0" advTm="207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9-frame">
            <a:extLst>
              <a:ext uri="{FF2B5EF4-FFF2-40B4-BE49-F238E27FC236}">
                <a16:creationId xmlns:a16="http://schemas.microsoft.com/office/drawing/2014/main" id="{2370305B-9B87-468B-8FD5-A66ABA22FE24}"/>
              </a:ext>
            </a:extLst>
          </p:cNvPr>
          <p:cNvSpPr>
            <a:spLocks noGrp="1"/>
          </p:cNvSpPr>
          <p:nvPr/>
        </p:nvSpPr>
        <p:spPr>
          <a:xfrm>
            <a:off x="369570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33800" y="400050"/>
            <a:ext cx="8096250" cy="6072188"/>
          </a:xfrm>
          <a:prstGeom prst="rect">
            <a:avLst/>
          </a:prstGeom>
        </p:spPr>
      </p:pic>
      <p:sp>
        <p:nvSpPr>
          <p:cNvPr id="3" name="kicker-9">
            <a:extLst>
              <a:ext uri="{FF2B5EF4-FFF2-40B4-BE49-F238E27FC236}">
                <a16:creationId xmlns:a16="http://schemas.microsoft.com/office/drawing/2014/main" id="{11AA33D4-C38B-40D9-8591-6D0EF283D377}"/>
              </a:ext>
            </a:extLst>
          </p:cNvPr>
          <p:cNvSpPr>
            <a:spLocks noGrp="1"/>
          </p:cNvSpPr>
          <p:nvPr/>
        </p:nvSpPr>
        <p:spPr>
          <a:xfrm>
            <a:off x="3619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08</a:t>
            </a:r>
          </a:p>
        </p:txBody>
      </p:sp>
      <p:sp>
        <p:nvSpPr>
          <p:cNvPr id="4" name="title-9">
            <a:extLst>
              <a:ext uri="{FF2B5EF4-FFF2-40B4-BE49-F238E27FC236}">
                <a16:creationId xmlns:a16="http://schemas.microsoft.com/office/drawing/2014/main" id="{264C9EA9-9B97-4D4E-B45A-89AC1FFBBE59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Paging makes address translation observable</a:t>
            </a:r>
          </a:p>
        </p:txBody>
      </p:sp>
      <p:sp>
        <p:nvSpPr>
          <p:cNvPr id="5" name="accent-9">
            <a:extLst>
              <a:ext uri="{FF2B5EF4-FFF2-40B4-BE49-F238E27FC236}">
                <a16:creationId xmlns:a16="http://schemas.microsoft.com/office/drawing/2014/main" id="{1A0F5747-DC7D-4DC0-A111-B4E83E10F6E2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9">
            <a:extLst>
              <a:ext uri="{FF2B5EF4-FFF2-40B4-BE49-F238E27FC236}">
                <a16:creationId xmlns:a16="http://schemas.microsoft.com/office/drawing/2014/main" id="{91514D98-295E-456E-9CD5-34DA344B5D65}"/>
              </a:ext>
            </a:extLst>
          </p:cNvPr>
          <p:cNvSpPr>
            <a:spLocks noGrp="1"/>
          </p:cNvSpPr>
          <p:nvPr/>
        </p:nvSpPr>
        <p:spPr>
          <a:xfrm>
            <a:off x="3619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Virtual-to-physical mapping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Hits, faults, and dirty pages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Frame ownership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FIFO replacement</a:t>
            </a:r>
          </a:p>
        </p:txBody>
      </p:sp>
      <p:sp>
        <p:nvSpPr>
          <p:cNvPr id="7" name="footer-9">
            <a:extLst>
              <a:ext uri="{FF2B5EF4-FFF2-40B4-BE49-F238E27FC236}">
                <a16:creationId xmlns:a16="http://schemas.microsoft.com/office/drawing/2014/main" id="{136081AE-957E-4DA7-8278-05F7B870E46C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9/12</a:t>
            </a:r>
          </a:p>
        </p:txBody>
      </p:sp>
      <p:pic>
        <p:nvPicPr>
          <p:cNvPr id="2" name="09">
            <a:hlinkClick r:id="" action="ppaction://media"/>
            <a:extLst>
              <a:ext uri="{FF2B5EF4-FFF2-40B4-BE49-F238E27FC236}">
                <a16:creationId xmlns:a16="http://schemas.microsoft.com/office/drawing/2014/main" id="{1859CB36-4639-35EC-6709-2CB7DD2B25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24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1440"/>
    </mc:Choice>
    <mc:Fallback>
      <p:transition spd="slow" advClick="0" advTm="21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10-frame">
            <a:extLst>
              <a:ext uri="{FF2B5EF4-FFF2-40B4-BE49-F238E27FC236}">
                <a16:creationId xmlns:a16="http://schemas.microsoft.com/office/drawing/2014/main" id="{C9DF13D5-8071-4E0C-B2CA-9A6B91F65B96}"/>
              </a:ext>
            </a:extLst>
          </p:cNvPr>
          <p:cNvSpPr>
            <a:spLocks noGrp="1"/>
          </p:cNvSpPr>
          <p:nvPr/>
        </p:nvSpPr>
        <p:spPr>
          <a:xfrm>
            <a:off x="32385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1950" y="400050"/>
            <a:ext cx="8096250" cy="6072188"/>
          </a:xfrm>
          <a:prstGeom prst="rect">
            <a:avLst/>
          </a:prstGeom>
        </p:spPr>
      </p:pic>
      <p:sp>
        <p:nvSpPr>
          <p:cNvPr id="3" name="kicker-10">
            <a:extLst>
              <a:ext uri="{FF2B5EF4-FFF2-40B4-BE49-F238E27FC236}">
                <a16:creationId xmlns:a16="http://schemas.microsoft.com/office/drawing/2014/main" id="{F7B3D883-4839-4EC5-8E6E-BA4C4D036E37}"/>
              </a:ext>
            </a:extLst>
          </p:cNvPr>
          <p:cNvSpPr>
            <a:spLocks noGrp="1"/>
          </p:cNvSpPr>
          <p:nvPr/>
        </p:nvSpPr>
        <p:spPr>
          <a:xfrm>
            <a:off x="88582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09</a:t>
            </a:r>
          </a:p>
        </p:txBody>
      </p:sp>
      <p:sp>
        <p:nvSpPr>
          <p:cNvPr id="4" name="title-10">
            <a:extLst>
              <a:ext uri="{FF2B5EF4-FFF2-40B4-BE49-F238E27FC236}">
                <a16:creationId xmlns:a16="http://schemas.microsoft.com/office/drawing/2014/main" id="{F63D6408-BFB6-40A6-A6D0-084613A61848}"/>
              </a:ext>
            </a:extLst>
          </p:cNvPr>
          <p:cNvSpPr>
            <a:spLocks noGrp="1"/>
          </p:cNvSpPr>
          <p:nvPr/>
        </p:nvSpPr>
        <p:spPr>
          <a:xfrm>
            <a:off x="88582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Disk algorithms run on the same request queue</a:t>
            </a:r>
          </a:p>
        </p:txBody>
      </p:sp>
      <p:sp>
        <p:nvSpPr>
          <p:cNvPr id="5" name="accent-10">
            <a:extLst>
              <a:ext uri="{FF2B5EF4-FFF2-40B4-BE49-F238E27FC236}">
                <a16:creationId xmlns:a16="http://schemas.microsoft.com/office/drawing/2014/main" id="{832259BC-6286-4100-8734-ED141576FA01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10">
            <a:extLst>
              <a:ext uri="{FF2B5EF4-FFF2-40B4-BE49-F238E27FC236}">
                <a16:creationId xmlns:a16="http://schemas.microsoft.com/office/drawing/2014/main" id="{D1CA39DF-492F-4BC9-B59D-93A518A7CC01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FCFS · SSTF · SCAN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C-SCAN · C-LOOK</a:t>
            </a:r>
          </a:p>
          <a:p>
            <a:endParaRPr sz="1725">
              <a:solidFill>
                <a:srgbClr val="334155"/>
              </a:solidFill>
            </a:endParaRP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Total head movement provides a direct comparison.</a:t>
            </a:r>
          </a:p>
        </p:txBody>
      </p:sp>
      <p:sp>
        <p:nvSpPr>
          <p:cNvPr id="7" name="footer-10">
            <a:extLst>
              <a:ext uri="{FF2B5EF4-FFF2-40B4-BE49-F238E27FC236}">
                <a16:creationId xmlns:a16="http://schemas.microsoft.com/office/drawing/2014/main" id="{82B288BF-7DCE-4440-AE3D-CF32F0613953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10/12</a:t>
            </a:r>
          </a:p>
        </p:txBody>
      </p:sp>
      <p:pic>
        <p:nvPicPr>
          <p:cNvPr id="2" name="10">
            <a:hlinkClick r:id="" action="ppaction://media"/>
            <a:extLst>
              <a:ext uri="{FF2B5EF4-FFF2-40B4-BE49-F238E27FC236}">
                <a16:creationId xmlns:a16="http://schemas.microsoft.com/office/drawing/2014/main" id="{2750ADF2-11A8-3EA6-794A-450E1FCA95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01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9016"/>
    </mc:Choice>
    <mc:Fallback>
      <p:transition spd="slow" advClick="0" advTm="19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creen-11-frame">
            <a:extLst>
              <a:ext uri="{FF2B5EF4-FFF2-40B4-BE49-F238E27FC236}">
                <a16:creationId xmlns:a16="http://schemas.microsoft.com/office/drawing/2014/main" id="{CCF478F3-5AAF-4ADF-8D7F-792912256060}"/>
              </a:ext>
            </a:extLst>
          </p:cNvPr>
          <p:cNvSpPr>
            <a:spLocks noGrp="1"/>
          </p:cNvSpPr>
          <p:nvPr/>
        </p:nvSpPr>
        <p:spPr>
          <a:xfrm>
            <a:off x="3695700" y="361950"/>
            <a:ext cx="8172450" cy="6148388"/>
          </a:xfrm>
          <a:prstGeom prst="rect">
            <a:avLst/>
          </a:prstGeom>
          <a:solidFill>
            <a:srgbClr val="0B1B2A"/>
          </a:solidFill>
          <a:ln w="19050">
            <a:solidFill>
              <a:srgbClr val="22CDB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33800" y="400050"/>
            <a:ext cx="8096250" cy="6072188"/>
          </a:xfrm>
          <a:prstGeom prst="rect">
            <a:avLst/>
          </a:prstGeom>
        </p:spPr>
      </p:pic>
      <p:sp>
        <p:nvSpPr>
          <p:cNvPr id="3" name="kicker-11">
            <a:extLst>
              <a:ext uri="{FF2B5EF4-FFF2-40B4-BE49-F238E27FC236}">
                <a16:creationId xmlns:a16="http://schemas.microsoft.com/office/drawing/2014/main" id="{EC0F83C0-BD6E-4E79-8058-13B0A8D867B5}"/>
              </a:ext>
            </a:extLst>
          </p:cNvPr>
          <p:cNvSpPr>
            <a:spLocks noGrp="1"/>
          </p:cNvSpPr>
          <p:nvPr/>
        </p:nvSpPr>
        <p:spPr>
          <a:xfrm>
            <a:off x="361950" y="666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LIVE KERNEL PROOF · 10</a:t>
            </a:r>
          </a:p>
        </p:txBody>
      </p:sp>
      <p:sp>
        <p:nvSpPr>
          <p:cNvPr id="4" name="title-11">
            <a:extLst>
              <a:ext uri="{FF2B5EF4-FFF2-40B4-BE49-F238E27FC236}">
                <a16:creationId xmlns:a16="http://schemas.microsoft.com/office/drawing/2014/main" id="{6B6BEF5B-DAB1-476B-A18A-5454741261DF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I/O modes report their work with live counters</a:t>
            </a:r>
          </a:p>
        </p:txBody>
      </p:sp>
      <p:sp>
        <p:nvSpPr>
          <p:cNvPr id="5" name="accent-11">
            <a:extLst>
              <a:ext uri="{FF2B5EF4-FFF2-40B4-BE49-F238E27FC236}">
                <a16:creationId xmlns:a16="http://schemas.microsoft.com/office/drawing/2014/main" id="{D1873174-41E0-454A-BE31-F8FE1C96AAFA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914400" cy="666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6" name="body-11">
            <a:extLst>
              <a:ext uri="{FF2B5EF4-FFF2-40B4-BE49-F238E27FC236}">
                <a16:creationId xmlns:a16="http://schemas.microsoft.com/office/drawing/2014/main" id="{31A230E5-92EE-444C-8A79-E8CEB0274F21}"/>
              </a:ext>
            </a:extLst>
          </p:cNvPr>
          <p:cNvSpPr>
            <a:spLocks noGrp="1"/>
          </p:cNvSpPr>
          <p:nvPr/>
        </p:nvSpPr>
        <p:spPr>
          <a:xfrm>
            <a:off x="361950" y="3619500"/>
            <a:ext cx="2857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Polling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Interrupt-driven I/O</a:t>
            </a: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Direct memory access</a:t>
            </a:r>
          </a:p>
          <a:p>
            <a:endParaRPr sz="1725">
              <a:solidFill>
                <a:srgbClr val="334155"/>
              </a:solidFill>
            </a:endParaRPr>
          </a:p>
          <a:p>
            <a:pPr>
              <a:defRPr sz="1725">
                <a:solidFill>
                  <a:srgbClr val="334155"/>
                </a:solidFill>
              </a:defRPr>
            </a:pPr>
            <a:r>
              <a:rPr sz="1725">
                <a:solidFill>
                  <a:srgbClr val="334155"/>
                </a:solidFill>
              </a:rPr>
              <a:t>Main course concepts complete through Chapter 13.</a:t>
            </a:r>
          </a:p>
        </p:txBody>
      </p:sp>
      <p:sp>
        <p:nvSpPr>
          <p:cNvPr id="7" name="footer-11">
            <a:extLst>
              <a:ext uri="{FF2B5EF4-FFF2-40B4-BE49-F238E27FC236}">
                <a16:creationId xmlns:a16="http://schemas.microsoft.com/office/drawing/2014/main" id="{F691D9D5-A770-4941-9830-E37F288BF50C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11/12</a:t>
            </a:r>
          </a:p>
        </p:txBody>
      </p:sp>
      <p:pic>
        <p:nvPicPr>
          <p:cNvPr id="2" name="11">
            <a:hlinkClick r:id="" action="ppaction://media"/>
            <a:extLst>
              <a:ext uri="{FF2B5EF4-FFF2-40B4-BE49-F238E27FC236}">
                <a16:creationId xmlns:a16="http://schemas.microsoft.com/office/drawing/2014/main" id="{3CBB3C6B-C9FE-ACBB-2577-D7E0058A8B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8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2906"/>
    </mc:Choice>
    <mc:Fallback>
      <p:transition spd="slow" advClick="0" advTm="229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1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sing-kicker">
            <a:extLst>
              <a:ext uri="{FF2B5EF4-FFF2-40B4-BE49-F238E27FC236}">
                <a16:creationId xmlns:a16="http://schemas.microsoft.com/office/drawing/2014/main" id="{787B80B4-405D-4C42-87D9-DA3636BC2CB8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JAS OS</a:t>
            </a:r>
          </a:p>
        </p:txBody>
      </p:sp>
      <p:sp>
        <p:nvSpPr>
          <p:cNvPr id="2" name="closing-title">
            <a:extLst>
              <a:ext uri="{FF2B5EF4-FFF2-40B4-BE49-F238E27FC236}">
                <a16:creationId xmlns:a16="http://schemas.microsoft.com/office/drawing/2014/main" id="{C43B36D8-A637-4050-8366-54DF645C10EA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9620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Built to make OS concepts visible</a:t>
            </a:r>
          </a:p>
        </p:txBody>
      </p:sp>
      <p:sp>
        <p:nvSpPr>
          <p:cNvPr id="3" name="closing-rule">
            <a:extLst>
              <a:ext uri="{FF2B5EF4-FFF2-40B4-BE49-F238E27FC236}">
                <a16:creationId xmlns:a16="http://schemas.microsoft.com/office/drawing/2014/main" id="{30617452-0372-4C70-868C-E3346ED83D00}"/>
              </a:ext>
            </a:extLst>
          </p:cNvPr>
          <p:cNvSpPr>
            <a:spLocks noGrp="1"/>
          </p:cNvSpPr>
          <p:nvPr/>
        </p:nvSpPr>
        <p:spPr>
          <a:xfrm>
            <a:off x="514350" y="3276600"/>
            <a:ext cx="11125200" cy="28575"/>
          </a:xfrm>
          <a:prstGeom prst="rect">
            <a:avLst/>
          </a:prstGeom>
          <a:solidFill>
            <a:srgbClr val="22CDB6"/>
          </a:solidFill>
          <a:ln w="0">
            <a:noFill/>
            <a:prstDash val="solid"/>
          </a:ln>
        </p:spPr>
      </p:sp>
      <p:sp>
        <p:nvSpPr>
          <p:cNvPr id="4" name="closing-body">
            <a:extLst>
              <a:ext uri="{FF2B5EF4-FFF2-40B4-BE49-F238E27FC236}">
                <a16:creationId xmlns:a16="http://schemas.microsoft.com/office/drawing/2014/main" id="{9E80E7D1-0823-4833-915C-FD6E3EE686B6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6858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Bootable ISO</a:t>
            </a:r>
          </a:p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Freestanding x86 kernel</a:t>
            </a:r>
          </a:p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Teacher-ready live demonstrations</a:t>
            </a:r>
          </a:p>
          <a:p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Source and report on GitHub</a:t>
            </a:r>
          </a:p>
        </p:txBody>
      </p:sp>
      <p:sp>
        <p:nvSpPr>
          <p:cNvPr id="5" name="closing-url">
            <a:extLst>
              <a:ext uri="{FF2B5EF4-FFF2-40B4-BE49-F238E27FC236}">
                <a16:creationId xmlns:a16="http://schemas.microsoft.com/office/drawing/2014/main" id="{6A31B601-5765-424A-BA55-0EB65370092E}"/>
              </a:ext>
            </a:extLst>
          </p:cNvPr>
          <p:cNvSpPr>
            <a:spLocks noGrp="1"/>
          </p:cNvSpPr>
          <p:nvPr/>
        </p:nvSpPr>
        <p:spPr>
          <a:xfrm>
            <a:off x="7429500" y="514350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github.com/Jubayed-Sahel/JAS-OS</a:t>
            </a:r>
          </a:p>
        </p:txBody>
      </p:sp>
      <p:sp>
        <p:nvSpPr>
          <p:cNvPr id="6" name="footer-12">
            <a:extLst>
              <a:ext uri="{FF2B5EF4-FFF2-40B4-BE49-F238E27FC236}">
                <a16:creationId xmlns:a16="http://schemas.microsoft.com/office/drawing/2014/main" id="{A7652878-0CE6-4AD1-8527-E2DFFDCA68C6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57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JAS OS  ·  12/12</a:t>
            </a:r>
          </a:p>
        </p:txBody>
      </p:sp>
      <p:pic>
        <p:nvPicPr>
          <p:cNvPr id="8" name="12">
            <a:hlinkClick r:id="" action="ppaction://media"/>
            <a:extLst>
              <a:ext uri="{FF2B5EF4-FFF2-40B4-BE49-F238E27FC236}">
                <a16:creationId xmlns:a16="http://schemas.microsoft.com/office/drawing/2014/main" id="{A858880A-52AC-57B6-D8E0-137000ED10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86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2035"/>
    </mc:Choice>
    <mc:Fallback>
      <p:transition spd="slow" advClick="0" advTm="220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23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DocSecurity>0</DocSecurity>
  <PresentationFormat>Widescreen</PresentationFormat>
  <Paragraphs>81</Paragraphs>
  <Slides>12</Slides>
  <Notes>12</Notes>
  <HiddenSlides>0</HiddenSlides>
  <MMClips>12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sahel ahmed</cp:lastModifiedBy>
  <cp:revision>1</cp:revision>
  <dcterms:created xsi:type="dcterms:W3CDTF">2026-08-21T16:46:49Z</dcterms:created>
  <dcterms:modified xsi:type="dcterms:W3CDTF">2026-08-21T16:47:29Z</dcterms:modified>
</cp:coreProperties>
</file>